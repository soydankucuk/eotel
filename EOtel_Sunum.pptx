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63764">
              <a:alpha val="60000"/>
            </a:srgbClr>
          </a:solidFill>
          <a:ln w="12700">
            <a:solidFill>
              <a:srgbClr val="163764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2471A3">
              <a:alpha val="40000"/>
            </a:srgbClr>
          </a:solidFill>
          <a:ln w="12700">
            <a:solidFill>
              <a:srgbClr val="2471A3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17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E-OTEL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ve Yönetim Sistemi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645920" y="3200400"/>
            <a:ext cx="5852160" cy="640080"/>
          </a:xfrm>
          <a:prstGeom prst="roundRect">
            <a:avLst>
              <a:gd name="adj" fmla="val 14286"/>
            </a:avLst>
          </a:prstGeom>
          <a:solidFill>
            <a:srgbClr val="163764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320040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Arnta Moumin   |   Soydan Küçük   |   Mert Ülker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Swing · Veri Yapıları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Projenin Amacı ve Kapsamı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otel yönetiminde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çakışmaları</a:t>
            </a:r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yığılmaları</a:t>
            </a:r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büyük operasyonel sorunlardandır.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ve Müşteri eşleştirmelerinin optimizasyonu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hata ile rezervasyon tarih kontrolü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dostu, masaüstü tabanlı yönetim arayüzü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 listesiyle doluluk yönetimi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841248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841248"/>
            <a:ext cx="54864" cy="1828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960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Temel Hedef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371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hazır Java koleksiyonlarını kullanmak yerine, her probleme özgü veri yapılarını sıfırdan inşa ederek yüksek performans elde etmek.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37760" y="288036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2880360"/>
            <a:ext cx="54864" cy="1417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999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Kapsam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4015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Java dosyası · GUI + Terminal mod · CSV kalıcılığı · Çoklu şube desteği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Kullanılan Teknolojiler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56616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54864" cy="356616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0058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 (Backend Core)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Yönelimli Programlama (OOP)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yazılmış veri yapıları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 &amp; epoch-day hesaplamaları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tabanlı veri kalıcılığı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4114800"/>
            <a:ext cx="356616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Harici kütüphane kullanılmadı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868680"/>
            <a:ext cx="4023360" cy="356616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868680"/>
            <a:ext cx="54864" cy="356616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0584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834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(GUI)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29200" y="23774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JTabbedPane ile 5 modüllü arayüz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 + DefaultTableModel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javax.swing.* — JavaFX değil!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Look &amp; Feel entegrasyonu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983480" y="4114800"/>
            <a:ext cx="356616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Çift mod: GUI + Terminal (argüman ile)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Sistem Modülleri ve Mimari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 sekme — otel yönetiminin tüm yaşam döngüsünü kapsar: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4864" cy="1417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Yeni Rezervasyon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773936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Müşteri, oda, tarih ve şube kayıtlarının alındığı giriş noktası. Interval kontrolü burada tetiklenir.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98448"/>
            <a:ext cx="54864" cy="141732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 Aktif Rezervasyonlar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1773936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konaklamaların listesi. İptal işlemi bekleme listesini otomatik tetikler.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29844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98448"/>
            <a:ext cx="54864" cy="1417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Odalar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773936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odaların müsaitlik durumu. Sağ tık → iptal veya checkout işlemi.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2990088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990088"/>
            <a:ext cx="54864" cy="1417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081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Bekleme Listesi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465576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Dolu tarihler için FIFO kuyruğu. Oda boşalınca otomatik aktifleşir.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990088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2990088"/>
            <a:ext cx="54864" cy="1417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3081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Geçmiş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3465576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Tamamlanan/iptal rezervasyonların BST ile tarih sıralı arşivi.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 Yapıları Stratejimiz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işlem için performansı optimize eden doğru veri yapısı seçilmiştir.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1965960" cy="338328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19659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Overlap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745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Çakışma Kontrolü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7889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oda, rezervasyon aralıklarını long[] listesinde tutar. Yeni rezervasyon için lineer tarama.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41448" y="1298448"/>
            <a:ext cx="1965960" cy="338328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298448"/>
            <a:ext cx="196596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25496" y="187452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25496" y="18745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&amp; Müşteri Erişimi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51176" y="27889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→ nesne doğrudan eşleme. rooms.get(id) ile anında erişim.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08576" y="1298448"/>
            <a:ext cx="1965960" cy="338328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298448"/>
            <a:ext cx="1965960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(FIFO)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92624" y="187452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18745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81728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 Listesi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27889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mantığıyla çalışır. Ekleme/silme için referans değişimi yeterli.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75704" y="1298448"/>
            <a:ext cx="1965960" cy="338328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75704" y="1298448"/>
            <a:ext cx="196596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59752" y="187452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18745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n)*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48856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Arşiv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5432" y="27889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 rezervasyonları giriş tarihine göre sıralı saklar.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Ortalama. En kötü durum (dengesiz ağaç): O(n)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Çakışma Kontrolü: Interval Overlap Check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en kritik algoritması: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"Bir odaya aynı tarihlerde iki farklı rezervasyon yapılmasını nasıl engelleriz?"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oda, rezervasyonları long[] { giris, cikis } listesinde saklar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tarih gelince mevcut tüm aralıklarla kıyaslanır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kuralı: a &lt; d VE c &lt; b → çakışıyor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Çakışıyorsa → oda doluysa Bekleme Listesine ekle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0" y="804672"/>
            <a:ext cx="3749040" cy="2743200"/>
          </a:xfrm>
          <a:prstGeom prst="rect">
            <a:avLst/>
          </a:prstGeom>
          <a:solidFill>
            <a:srgbClr val="1C2833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6360" y="914400"/>
            <a:ext cx="3474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</a:t>
            </a:r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isAvailable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(LocalDate in, LocalDate out)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 a = in.toEpochDay(), b = out.toEpochDay();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(long[] iv : intervals)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 &lt; iv[1] &amp;&amp; iv[0] &lt; b)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false; // ÇAKIŞIYOR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 // Müsait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8412480" cy="96012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886200"/>
            <a:ext cx="54864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Karmaşıklığı: 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</a:t>
            </a:r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n: odanın mevcut rezervasyon sayısı</a:t>
            </a:r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3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Alan:  </a:t>
            </a:r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 </a:t>
            </a:r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ekstra bellek yok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Hızlı Veri Erişimi: HashMap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ID veya Oda ID girildiğinde sisteme anında ulaşılır.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(Anahtar-Değer) eşleşmesi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Benzersiz String ID  →  Value: Oda / Müşteri nesnesi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rooms.get("R1") — O(1) doğrudan erişim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custs.get(custId) — müşteri bilgisine anında ulaş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kullanılsaydı O(n) lineer tarama gerekirdi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74920" y="804672"/>
            <a:ext cx="3703320" cy="2834640"/>
          </a:xfrm>
          <a:prstGeom prst="rect">
            <a:avLst/>
          </a:prstGeom>
          <a:solidFill>
            <a:srgbClr val="1C2833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93792" y="914400"/>
            <a:ext cx="34747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Oda ve Müşteri mapleri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&lt;String, Room&gt; rooms = </a:t>
            </a:r>
            <a:pPr indent="0" marL="0">
              <a:buNone/>
            </a:pPr>
            <a:r>
              <a:rPr lang="en-US" sz="108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HashMap&lt;&gt;();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&lt;String, Customer&gt; custs = </a:t>
            </a:r>
            <a:pPr indent="0" marL="0">
              <a:buNone/>
            </a:pPr>
            <a:r>
              <a:rPr lang="en-US" sz="108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HashMap&lt;&gt;();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O(1) doğrudan erişim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rm = rooms.get(roomId); // O(1)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c = custs.get(custId); // O(1)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65760" y="3840480"/>
            <a:ext cx="8412480" cy="96012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840480"/>
            <a:ext cx="54864" cy="9601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931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HashMap?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 →  O(n) tarama  </a:t>
            </a:r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 →  O(1) hash lookup</a:t>
            </a:r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 = 1.000 oda için 1000x hız farkı)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Bekleme Listesi: LinkedList (FIFO)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bu tarihlerde doluysa müşteri bekleme listesine alınır. İlk gelen, ilk çıkar.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8412480" cy="146304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61872"/>
            <a:ext cx="54864" cy="14630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898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Mantığı (FIFO)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7556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5564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(İlk Gelen)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2084832"/>
            <a:ext cx="411480" cy="0"/>
          </a:xfrm>
          <a:prstGeom prst="line">
            <a:avLst/>
          </a:prstGeom>
          <a:noFill/>
          <a:ln w="3175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938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17556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2471A3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75564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Müşteri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2084832"/>
            <a:ext cx="411480" cy="0"/>
          </a:xfrm>
          <a:prstGeom prst="line">
            <a:avLst/>
          </a:prstGeom>
          <a:noFill/>
          <a:ln w="3175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938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7556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2471A3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5564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Müşteri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084832"/>
            <a:ext cx="411480" cy="0"/>
          </a:xfrm>
          <a:prstGeom prst="line">
            <a:avLst/>
          </a:prstGeom>
          <a:noFill/>
          <a:ln w="3175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38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17556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75564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(Son Gelen)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2834640"/>
            <a:ext cx="2286000" cy="438912"/>
          </a:xfrm>
          <a:prstGeom prst="rect">
            <a:avLst/>
          </a:prstGeom>
          <a:solidFill>
            <a:srgbClr val="16376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2834640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154680" y="2834640"/>
            <a:ext cx="2560320" cy="438912"/>
          </a:xfrm>
          <a:prstGeom prst="rect">
            <a:avLst/>
          </a:prstGeom>
          <a:solidFill>
            <a:srgbClr val="16376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2834640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15000" y="2834640"/>
            <a:ext cx="2560320" cy="438912"/>
          </a:xfrm>
          <a:prstGeom prst="rect">
            <a:avLst/>
          </a:prstGeom>
          <a:solidFill>
            <a:srgbClr val="16376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2834640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3273552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3273552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Ortadan Eleman Silme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154680" y="3273552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327355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kaydırma gerekir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715000" y="3273552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88152" y="327355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referans değiştir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68680" y="3712464"/>
            <a:ext cx="2286000" cy="438912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3712464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Ekleme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154680" y="3712464"/>
            <a:ext cx="2560320" cy="438912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3712464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amortize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715000" y="3712464"/>
            <a:ext cx="2560320" cy="438912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88152" y="3712464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her zaman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8680" y="4151376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" y="4151376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Uyumu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154680" y="415137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27832" y="4151376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Zayıf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715000" y="415137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88152" y="4151376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Geçmiş Arşivi: Binary Search Tree (BST)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 ve iptal edilen rezervasyonlar Geçmiş sekmesine aktarılır.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yazılmış — Java'nın TreeMap/TreeSet'i kullanılmadı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Node: Reservation verisi + sol &amp; sağ çocuk referansı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yeni.tarih &lt; mevcut.tarih → SOLA, ≥ → SAĞA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(Sol→Kök→Sağ) gezinme her zaman tarihe göre sıralı liste üretir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history.insert() → O(log n) ortalama yerleştirme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history.inorder() → O(n) sıralı listeleme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804672"/>
            <a:ext cx="3657600" cy="374904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896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Yapısı (Giriş Tarihine Göre)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32588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RES002
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219456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2471A3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19456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RES001
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219456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2471A3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19456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RES003
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306324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D35400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306324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RES004
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856232"/>
            <a:ext cx="-521208" cy="338328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13448" y="1856232"/>
            <a:ext cx="228600" cy="338328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9592" y="2724912"/>
            <a:ext cx="0" cy="338328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0" y="4069080"/>
            <a:ext cx="352044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In-Order: 15 Nis → 10 Nis → 01 May → 20 May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4572000" cy="74980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206240"/>
            <a:ext cx="54864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793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insert(): O(log n)  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 |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kötü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inorder(): O(n)  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her düğüm 1 kez ziyaret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Rezervasyon Akış Diyagramı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rezervasyon yapıldığında sistemin işlem adımları: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Formu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Doldurur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623060"/>
            <a:ext cx="18288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118872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&amp; Alan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Validasyonu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1623060"/>
            <a:ext cx="18288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700000">
            <a:off x="3749040" y="1188720"/>
            <a:ext cx="1417320" cy="8686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18872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Bulunur?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66360" y="1623060"/>
            <a:ext cx="27432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0680" y="118872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Check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1623060"/>
            <a:ext cx="18288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7132320" y="1188720"/>
            <a:ext cx="1417320" cy="8686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18872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mı?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18120" y="1623060"/>
            <a:ext cx="0" cy="91440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26517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Listesine Ekle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1623060"/>
            <a:ext cx="-1371600" cy="1371600"/>
          </a:xfrm>
          <a:prstGeom prst="line">
            <a:avLst/>
          </a:prstGeom>
          <a:noFill/>
          <a:ln w="25400">
            <a:solidFill>
              <a:srgbClr val="1E84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Onaylandı!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611880"/>
            <a:ext cx="54864" cy="1280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307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İptal Sonrası: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409651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Oda serbest bırakılır (room.release())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Rezervasyon → BST'ye eklenir (history.insert())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Bekleme listesi taranır: uygun ilk giriş otomatik aktifleştirilir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Genel Zaman Karmaşıklığı Tablosu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Sistemdeki her kritik işlem için kullanılan veri yapısı ve Big-O karmaşıklığı: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108960" cy="438912"/>
          </a:xfrm>
          <a:prstGeom prst="rect">
            <a:avLst/>
          </a:prstGeom>
          <a:solidFill>
            <a:srgbClr val="163764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İşlemi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234440"/>
            <a:ext cx="2286000" cy="438912"/>
          </a:xfrm>
          <a:prstGeom prst="rect">
            <a:avLst/>
          </a:prstGeom>
          <a:solidFill>
            <a:srgbClr val="163764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234440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Veri Yapısı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1234440"/>
            <a:ext cx="1417320" cy="438912"/>
          </a:xfrm>
          <a:prstGeom prst="rect">
            <a:avLst/>
          </a:prstGeom>
          <a:solidFill>
            <a:srgbClr val="163764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1234440"/>
            <a:ext cx="1271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(Ortalama)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1234440"/>
            <a:ext cx="1417320" cy="438912"/>
          </a:xfrm>
          <a:prstGeom prst="rect">
            <a:avLst/>
          </a:prstGeom>
          <a:solidFill>
            <a:srgbClr val="163764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1192" y="1234440"/>
            <a:ext cx="1271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(En Kötü)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167335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67335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Rezervasyon — Tarih Çakışma Kontrolü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0" y="167335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67335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Overlap (ArrayList)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1673352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6733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78040" y="1673352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6733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148840"/>
            <a:ext cx="310896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48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/ Müşteri Kaydına Erişim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0" y="2148840"/>
            <a:ext cx="228600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148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760720" y="2148840"/>
            <a:ext cx="141732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14884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78040" y="2148840"/>
            <a:ext cx="141732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214884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O(n)*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624328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62432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 Listesine Müşteri Ekleme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74720" y="262432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26243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(FIFO)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760720" y="262432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262432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78040" y="262432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262432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099816"/>
            <a:ext cx="310896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0998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 Listesinden İlk Müşteriyi Al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474720" y="3099816"/>
            <a:ext cx="228600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309981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— poll()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760720" y="3099816"/>
            <a:ext cx="141732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309981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178040" y="3099816"/>
            <a:ext cx="141732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309981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" y="3575304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57530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Geçmişe Rezervasyon Kaydetme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474720" y="3575304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357530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— insert()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760720" y="3575304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35753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178040" y="3575304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35753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O(n)**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65760" y="4050792"/>
            <a:ext cx="310896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05079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Geçmişi Sıralı Listeleme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474720" y="4050792"/>
            <a:ext cx="228600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40507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— In-Order Traversal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760720" y="4050792"/>
            <a:ext cx="141732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0" y="405079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178040" y="4050792"/>
            <a:ext cx="1417320" cy="475488"/>
          </a:xfrm>
          <a:prstGeom prst="rect">
            <a:avLst/>
          </a:prstGeom>
          <a:solidFill>
            <a:srgbClr val="F4F8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405079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65760" y="452628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526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CSV'den Veri Yükleme / Kaydetme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474720" y="452628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0" y="45262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 / PrintWriter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760720" y="4526280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52160" y="452628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178040" y="4526280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69480" y="452628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Çok nadir hash çakışması durumunda  |  ** Dengesiz BST (tüm veriler ardışık tarihliyse)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Arayüz (GUI) Tasarımı — Java Swing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572000" cy="70408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4864" cy="704088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969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(javax.swing.*)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değil! JFrame, JTabbedPane, JTable, JOptionPane kullanıldı.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4572000" cy="70408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09928"/>
            <a:ext cx="54864" cy="704088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64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Validasyonu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029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Giriş/çıkış tarihleri gg-AA-yyyy formatında parse; hatalı giriş uyarı penceresiyle reddedilir.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4572000" cy="70408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05456"/>
            <a:ext cx="54864" cy="704088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60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Şube Desteği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28254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 şube alanı ile aynı oda numarası farklı şubelerde ayrıştırılır.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300984"/>
            <a:ext cx="4572000" cy="70408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300984"/>
            <a:ext cx="54864" cy="704088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558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Çalışma Modu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6210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Argümansız: GUI  |  java ... terminal argümanıyla: konsol modu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096512"/>
            <a:ext cx="4572000" cy="70408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096512"/>
            <a:ext cx="54864" cy="704088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1513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Kayıt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416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ShutdownHook ile program kapanınca CSV'ye otomatik kaydedilir.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841248"/>
            <a:ext cx="3703320" cy="3931920"/>
          </a:xfrm>
          <a:prstGeom prst="rect">
            <a:avLst/>
          </a:prstGeom>
          <a:solidFill>
            <a:srgbClr val="0D2137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66360" y="914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— E-Otel Rezervasyon Sistemi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66360" y="1280160"/>
            <a:ext cx="640080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280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Rezv.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43016" y="1280160"/>
            <a:ext cx="640080" cy="292608"/>
          </a:xfrm>
          <a:prstGeom prst="rect">
            <a:avLst/>
          </a:prstGeom>
          <a:solidFill>
            <a:srgbClr val="163764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43016" y="1280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19672" y="1280160"/>
            <a:ext cx="640080" cy="292608"/>
          </a:xfrm>
          <a:prstGeom prst="rect">
            <a:avLst/>
          </a:prstGeom>
          <a:solidFill>
            <a:srgbClr val="163764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1280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Odalar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96328" y="1280160"/>
            <a:ext cx="640080" cy="292608"/>
          </a:xfrm>
          <a:prstGeom prst="rect">
            <a:avLst/>
          </a:prstGeom>
          <a:solidFill>
            <a:srgbClr val="163764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1280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872984" y="1280160"/>
            <a:ext cx="640080" cy="292608"/>
          </a:xfrm>
          <a:prstGeom prst="rect">
            <a:avLst/>
          </a:prstGeom>
          <a:solidFill>
            <a:srgbClr val="163764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72984" y="1280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166360" y="1572768"/>
            <a:ext cx="3520440" cy="2286000"/>
          </a:xfrm>
          <a:prstGeom prst="rect">
            <a:avLst/>
          </a:prstGeom>
          <a:solidFill>
            <a:srgbClr val="2C3E50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Adı: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66560" y="1691640"/>
            <a:ext cx="1737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E-posta: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66560" y="2020824"/>
            <a:ext cx="1737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2322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Numarası: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66560" y="2350008"/>
            <a:ext cx="1737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Tarihi: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66560" y="2679192"/>
            <a:ext cx="1737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29809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Tarihi: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66560" y="3008376"/>
            <a:ext cx="1737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3310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(opsiyonel):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3337560"/>
            <a:ext cx="1737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3904488"/>
            <a:ext cx="173736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3904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Yap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Kalıcılık: CSV Dosyası (hotel_data.csv)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Harici kütüphane gerektirmez. Tüm veriler tek CSV dosyasında saklanır.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120640" cy="3017520"/>
          </a:xfrm>
          <a:prstGeom prst="rect">
            <a:avLst/>
          </a:prstGeom>
          <a:solidFill>
            <a:srgbClr val="1C2833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984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hotel_data.csv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ROOM,R1,101,Standart,Sube 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ROOM,R2,102,Deluxe,Sube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CUST,C1,Alice Johnson,alice@mail.com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CUST,C2,Bob Smith,bob@mail.com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RES,RES001,R1,C1,19-05-2026,22-05-2026,ACTIVE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RES,RES002,R2,C2,01-04-2026,05-04-2026,COMPLETED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1234440"/>
            <a:ext cx="3108960" cy="80467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234440"/>
            <a:ext cx="54864" cy="8046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satırı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9788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oda no, tip, şube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2194560"/>
            <a:ext cx="3108960" cy="80467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2194560"/>
            <a:ext cx="54864" cy="8046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satırı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97880" y="25877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ad, e-posta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154680"/>
            <a:ext cx="3108960" cy="80467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3154680"/>
            <a:ext cx="54864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satırı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97880" y="35478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oda, müşteri, giriş, çıkış, durum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15968"/>
            <a:ext cx="8412480" cy="685800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315968"/>
            <a:ext cx="54864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saveData(): O(n)  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shutdown hook ile otomatik  |  </a:t>
            </a:r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loadData(): O(n)  </a:t>
            </a:r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başlangıçta, yoksa seedData() çalışır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Hata Yönetimi ve Test Senaryoları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blokları ve doğrulama katmanları ile sistemin kararlı çalışması sağlanmıştır: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697480" cy="148132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54864" cy="148132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Geçersiz Tarih Formatı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alanına harf girildiğinde DateTimeParseException yakalanır ve kullanıcıya uyarı gösterilir.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697480" cy="148132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61872"/>
            <a:ext cx="54864" cy="1481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Çakışma Testi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odaya aynı gün rezervasyon denendiğinde Interval Overlap Check çakışmayı tespit eder → Bekleme Listesine yönlendirilir.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697480" cy="148132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61872"/>
            <a:ext cx="54864" cy="148132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Boş Liste / Null Kontrolü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veya bekleme listesi boşken işlem yapılırsa NullPointerException önlenir. BST root null kontrolü var.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97480" cy="148132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54864" cy="14813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CSV Okuma Hatası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01568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hotel_data.csv bozuk veya eksikse IOException yakalanır ve seedData() ile varsayılan veriler yüklenir.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697480" cy="148132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926080"/>
            <a:ext cx="54864" cy="1481328"/>
          </a:xfrm>
          <a:prstGeom prst="rect">
            <a:avLst/>
          </a:prstGeom>
          <a:solidFill>
            <a:srgbClr val="163764"/>
          </a:solidFill>
          <a:ln w="12700">
            <a:solidFill>
              <a:srgbClr val="1637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17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Çift Kayıt Önleme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401568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müşteriye aynı oda/tarih için iki kez rezervasyon isteği gelirse interval kontrolü ikincisini reddeder.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2926080"/>
            <a:ext cx="2697480" cy="1481328"/>
          </a:xfrm>
          <a:prstGeom prst="rect">
            <a:avLst/>
          </a:prstGeom>
          <a:solidFill>
            <a:srgbClr val="F4F8FB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2926080"/>
            <a:ext cx="54864" cy="14813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017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Doğrulama: Çıkış &gt; Giriş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3401568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tarihi giriş tarihinden önce veya aynı gün girilemez. isAfter() kontrolü zorunludur.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63764">
              <a:alpha val="60000"/>
            </a:srgbClr>
          </a:solidFill>
          <a:ln w="12700">
            <a:solidFill>
              <a:srgbClr val="163764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2471A3">
              <a:alpha val="40000"/>
            </a:srgbClr>
          </a:solidFill>
          <a:ln w="12700">
            <a:solidFill>
              <a:srgbClr val="2471A3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 Dinlediğiniz İçin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 Ederiz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163764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9260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3101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69417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· HashMap · LinkedList · Interval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343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Arnta Moumin   |   Soydan Küçük   |   Mert Ülker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E-Otel Rezervasyon ve Yönetim Sistemi</dc:title>
  <dc:subject>PptxGenJS Presentation</dc:subject>
  <dc:creator>PptxGenJS</dc:creator>
  <cp:lastModifiedBy>PptxGenJS</cp:lastModifiedBy>
  <cp:revision>1</cp:revision>
  <dcterms:created xsi:type="dcterms:W3CDTF">2026-05-19T20:59:25Z</dcterms:created>
  <dcterms:modified xsi:type="dcterms:W3CDTF">2026-05-19T20:59:25Z</dcterms:modified>
</cp:coreProperties>
</file>