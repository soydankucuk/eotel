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0" roundtripDataSignature="AMtx7mhS5J8rKNCxkqpPd4R6eL/EZQoBU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customschemas.google.com/relationships/presentationmetadata" Target="metadata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" name="Google Shape;26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" name="Google Shape;46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" name="Google Shape;69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2" name="Google Shape;17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3" name="Google Shape;22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2" name="Google Shape;252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1" name="Google Shape;291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6" name="Google Shape;366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7" name="Google Shape;367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2" name="Google Shape;422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3" name="Google Shape;423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3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5" name="Google Shape;45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6" name="Google Shape;456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4" name="Google Shape;484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5" name="Google Shape;485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2137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5943600" y="-1371600"/>
            <a:ext cx="5486400" cy="5486400"/>
          </a:xfrm>
          <a:prstGeom prst="ellipse">
            <a:avLst/>
          </a:prstGeom>
          <a:solidFill>
            <a:srgbClr val="163764">
              <a:alpha val="60000"/>
            </a:srgbClr>
          </a:solidFill>
          <a:ln cap="flat" cmpd="sng" w="12700">
            <a:solidFill>
              <a:srgbClr val="163764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-1828800" y="2286000"/>
            <a:ext cx="4572000" cy="4572000"/>
          </a:xfrm>
          <a:prstGeom prst="ellipse">
            <a:avLst/>
          </a:prstGeom>
          <a:solidFill>
            <a:srgbClr val="2471A3">
              <a:alpha val="40000"/>
            </a:srgbClr>
          </a:solidFill>
          <a:ln cap="flat" cmpd="sng" w="12700">
            <a:solidFill>
              <a:srgbClr val="2471A3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8" name="Google Shape;18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14800" y="457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1"/>
          <p:cNvSpPr/>
          <p:nvPr/>
        </p:nvSpPr>
        <p:spPr>
          <a:xfrm>
            <a:off x="914400" y="1417320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600"/>
              <a:buFont typeface="Calibri"/>
              <a:buNone/>
            </a:pPr>
            <a:r>
              <a:rPr b="1" i="0" lang="en-US" sz="5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E-OTEL</a:t>
            </a:r>
            <a:endParaRPr b="0" i="0" sz="5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914400" y="237744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ED6F1"/>
              </a:buClr>
              <a:buSzPts val="2200"/>
              <a:buFont typeface="Calibri"/>
              <a:buNone/>
            </a:pPr>
            <a:r>
              <a:rPr b="0" i="0" lang="en-US" sz="2200" u="none" cap="none" strike="noStrike">
                <a:solidFill>
                  <a:srgbClr val="AED6F1"/>
                </a:solidFill>
                <a:latin typeface="Calibri"/>
                <a:ea typeface="Calibri"/>
                <a:cs typeface="Calibri"/>
                <a:sym typeface="Calibri"/>
              </a:rPr>
              <a:t>Rezervasyon ve Yönetim Sistemi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1645920" y="3200400"/>
            <a:ext cx="5852160" cy="640080"/>
          </a:xfrm>
          <a:prstGeom prst="roundRect">
            <a:avLst>
              <a:gd fmla="val 14286" name="adj"/>
            </a:avLst>
          </a:prstGeom>
          <a:solidFill>
            <a:srgbClr val="163764">
              <a:alpha val="70196"/>
            </a:srgbClr>
          </a:solidFill>
          <a:ln cap="flat" cmpd="sng" w="12700">
            <a:solidFill>
              <a:srgbClr val="1ABC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" name="Google Shape;22;p1"/>
          <p:cNvSpPr/>
          <p:nvPr/>
        </p:nvSpPr>
        <p:spPr>
          <a:xfrm>
            <a:off x="1645920" y="3200400"/>
            <a:ext cx="58521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Arnta Moumin   |   Soydan Küçük   |   Mert Ülker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914400" y="420624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F8C8D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7F8C8D"/>
                </a:solidFill>
                <a:latin typeface="Calibri"/>
                <a:ea typeface="Calibri"/>
                <a:cs typeface="Calibri"/>
                <a:sym typeface="Calibri"/>
              </a:rPr>
              <a:t>Java · Swing · Veri Yapıları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3764"/>
          </a:solidFill>
          <a:ln cap="flat" cmpd="sng" w="12700">
            <a:solidFill>
              <a:srgbClr val="1637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2"/>
          <p:cNvSpPr/>
          <p:nvPr/>
        </p:nvSpPr>
        <p:spPr>
          <a:xfrm>
            <a:off x="0" y="685800"/>
            <a:ext cx="9144000" cy="36576"/>
          </a:xfrm>
          <a:prstGeom prst="rect">
            <a:avLst/>
          </a:prstGeom>
          <a:solidFill>
            <a:srgbClr val="1ABC9C"/>
          </a:solidFill>
          <a:ln cap="flat" cmpd="sng" w="12700">
            <a:solidFill>
              <a:srgbClr val="1ABC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2"/>
          <p:cNvSpPr/>
          <p:nvPr/>
        </p:nvSpPr>
        <p:spPr>
          <a:xfrm>
            <a:off x="320040" y="0"/>
            <a:ext cx="7772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1. Projenin Amacı ve Kapsamı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2"/>
          <p:cNvSpPr/>
          <p:nvPr/>
        </p:nvSpPr>
        <p:spPr>
          <a:xfrm>
            <a:off x="8046720" y="0"/>
            <a:ext cx="914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ED6F1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AED6F1"/>
                </a:solidFill>
                <a:latin typeface="Calibri"/>
                <a:ea typeface="Calibri"/>
                <a:cs typeface="Calibri"/>
                <a:sym typeface="Calibri"/>
              </a:rPr>
              <a:t>2/15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2"/>
          <p:cNvSpPr/>
          <p:nvPr/>
        </p:nvSpPr>
        <p:spPr>
          <a:xfrm>
            <a:off x="365760" y="868680"/>
            <a:ext cx="4389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764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63764"/>
                </a:solidFill>
                <a:latin typeface="Calibri"/>
                <a:ea typeface="Calibri"/>
                <a:cs typeface="Calibri"/>
                <a:sym typeface="Calibri"/>
              </a:rPr>
              <a:t>Problem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365760" y="1234440"/>
            <a:ext cx="4206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Modern otel yönetiminde </a:t>
            </a:r>
            <a:r>
              <a:rPr b="1" i="0" lang="en-US" sz="13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tarih çakışmaları</a:t>
            </a:r>
            <a:r>
              <a:rPr b="0" i="0" lang="en-US" sz="130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 ve </a:t>
            </a:r>
            <a:r>
              <a:rPr b="1" i="0" lang="en-US" sz="13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veri yığılmaları</a:t>
            </a:r>
            <a:r>
              <a:rPr b="0" i="0" lang="en-US" sz="130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 en büyük operasyonel sorunlardandır.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365760" y="2057400"/>
            <a:ext cx="420624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3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Oda ve Müşteri eşleştirmelerinin optimizasyonu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1C2833"/>
              </a:buClr>
              <a:buSzPts val="13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Sıfır hata ile rezervasyon tarih kontrolü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1C2833"/>
              </a:buClr>
              <a:buSzPts val="13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Kullanıcı dostu, masaüstü tabanlı yönetim arayüzü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1C2833"/>
              </a:buClr>
              <a:buSzPts val="13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Bekleme listesiyle doluluk yönetimi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2"/>
          <p:cNvSpPr/>
          <p:nvPr/>
        </p:nvSpPr>
        <p:spPr>
          <a:xfrm>
            <a:off x="4937760" y="841248"/>
            <a:ext cx="3840480" cy="18288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8EE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4937760" y="841248"/>
            <a:ext cx="54864" cy="1828800"/>
          </a:xfrm>
          <a:prstGeom prst="rect">
            <a:avLst/>
          </a:prstGeom>
          <a:solidFill>
            <a:srgbClr val="1ABC9C"/>
          </a:solidFill>
          <a:ln cap="flat" cmpd="sng" w="12700">
            <a:solidFill>
              <a:srgbClr val="1ABC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5212080" y="960120"/>
            <a:ext cx="33832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764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63764"/>
                </a:solidFill>
                <a:latin typeface="Calibri"/>
                <a:ea typeface="Calibri"/>
                <a:cs typeface="Calibri"/>
                <a:sym typeface="Calibri"/>
              </a:rPr>
              <a:t>🎯  Temel Hedef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5212080" y="1371600"/>
            <a:ext cx="329184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Sadece hazır Java koleksiyonlarını kullanmak yerine, her probleme özgü veri yapılarını sıfırdan inşa ederek yüksek performans elde etmek.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"/>
          <p:cNvSpPr/>
          <p:nvPr/>
        </p:nvSpPr>
        <p:spPr>
          <a:xfrm>
            <a:off x="4937760" y="2880360"/>
            <a:ext cx="3840480" cy="14173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8EE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4937760" y="2880360"/>
            <a:ext cx="54864" cy="1417320"/>
          </a:xfrm>
          <a:prstGeom prst="rect">
            <a:avLst/>
          </a:prstGeom>
          <a:solidFill>
            <a:srgbClr val="2471A3"/>
          </a:solidFill>
          <a:ln cap="flat" cmpd="sng" w="12700">
            <a:solidFill>
              <a:srgbClr val="2471A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5212080" y="2999232"/>
            <a:ext cx="33832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764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63764"/>
                </a:solidFill>
                <a:latin typeface="Calibri"/>
                <a:ea typeface="Calibri"/>
                <a:cs typeface="Calibri"/>
                <a:sym typeface="Calibri"/>
              </a:rPr>
              <a:t>📦  Kapsam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5212080" y="3401568"/>
            <a:ext cx="32918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Tek Java dosyası · GUI + Terminal mod · CSV kalıcılığı · Çoklu şube desteği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3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3764"/>
          </a:solidFill>
          <a:ln cap="flat" cmpd="sng" w="12700">
            <a:solidFill>
              <a:srgbClr val="1637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3"/>
          <p:cNvSpPr/>
          <p:nvPr/>
        </p:nvSpPr>
        <p:spPr>
          <a:xfrm>
            <a:off x="0" y="685800"/>
            <a:ext cx="9144000" cy="36576"/>
          </a:xfrm>
          <a:prstGeom prst="rect">
            <a:avLst/>
          </a:prstGeom>
          <a:solidFill>
            <a:srgbClr val="1ABC9C"/>
          </a:solidFill>
          <a:ln cap="flat" cmpd="sng" w="12700">
            <a:solidFill>
              <a:srgbClr val="1ABC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3"/>
          <p:cNvSpPr/>
          <p:nvPr/>
        </p:nvSpPr>
        <p:spPr>
          <a:xfrm>
            <a:off x="320040" y="0"/>
            <a:ext cx="7772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2. Kullanılan Teknolojiler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8046720" y="0"/>
            <a:ext cx="914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ED6F1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AED6F1"/>
                </a:solidFill>
                <a:latin typeface="Calibri"/>
                <a:ea typeface="Calibri"/>
                <a:cs typeface="Calibri"/>
                <a:sym typeface="Calibri"/>
              </a:rPr>
              <a:t>3/15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3"/>
          <p:cNvSpPr/>
          <p:nvPr/>
        </p:nvSpPr>
        <p:spPr>
          <a:xfrm>
            <a:off x="365760" y="868680"/>
            <a:ext cx="4023360" cy="3566160"/>
          </a:xfrm>
          <a:prstGeom prst="rect">
            <a:avLst/>
          </a:prstGeom>
          <a:solidFill>
            <a:srgbClr val="F4F8FB"/>
          </a:solidFill>
          <a:ln cap="flat" cmpd="sng" w="12700">
            <a:solidFill>
              <a:srgbClr val="E8EE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3"/>
          <p:cNvSpPr/>
          <p:nvPr/>
        </p:nvSpPr>
        <p:spPr>
          <a:xfrm>
            <a:off x="365760" y="868680"/>
            <a:ext cx="54864" cy="3566160"/>
          </a:xfrm>
          <a:prstGeom prst="rect">
            <a:avLst/>
          </a:prstGeom>
          <a:solidFill>
            <a:srgbClr val="163764"/>
          </a:solidFill>
          <a:ln cap="flat" cmpd="sng" w="12700">
            <a:solidFill>
              <a:srgbClr val="1637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5" name="Google Shape;55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20240" y="1005840"/>
            <a:ext cx="731520" cy="731520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3"/>
          <p:cNvSpPr/>
          <p:nvPr/>
        </p:nvSpPr>
        <p:spPr>
          <a:xfrm>
            <a:off x="594360" y="1874520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3764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163764"/>
                </a:solidFill>
                <a:latin typeface="Calibri"/>
                <a:ea typeface="Calibri"/>
                <a:cs typeface="Calibri"/>
                <a:sym typeface="Calibri"/>
              </a:rPr>
              <a:t>Java 17+ (Backend Core)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3"/>
          <p:cNvSpPr/>
          <p:nvPr/>
        </p:nvSpPr>
        <p:spPr>
          <a:xfrm>
            <a:off x="640080" y="2377440"/>
            <a:ext cx="347472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Nesne Yönelimli Programlama (OOP)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1C2833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Sıfırdan yazılmış veri yapıları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1C2833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LocalDate &amp; epoch-day hesaplamaları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1C2833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CSV tabanlı veri kalıcılığı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3"/>
          <p:cNvSpPr/>
          <p:nvPr/>
        </p:nvSpPr>
        <p:spPr>
          <a:xfrm>
            <a:off x="594360" y="4114800"/>
            <a:ext cx="3566160" cy="256032"/>
          </a:xfrm>
          <a:prstGeom prst="rect">
            <a:avLst/>
          </a:prstGeom>
          <a:solidFill>
            <a:srgbClr val="1ABC9C"/>
          </a:solidFill>
          <a:ln cap="flat" cmpd="sng" w="12700">
            <a:solidFill>
              <a:srgbClr val="1ABC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3"/>
          <p:cNvSpPr/>
          <p:nvPr/>
        </p:nvSpPr>
        <p:spPr>
          <a:xfrm>
            <a:off x="594360" y="4114800"/>
            <a:ext cx="3566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✓ Harici kütüphane kullanılmadı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3"/>
          <p:cNvSpPr/>
          <p:nvPr/>
        </p:nvSpPr>
        <p:spPr>
          <a:xfrm>
            <a:off x="4754880" y="868680"/>
            <a:ext cx="4023360" cy="3566160"/>
          </a:xfrm>
          <a:prstGeom prst="rect">
            <a:avLst/>
          </a:prstGeom>
          <a:solidFill>
            <a:srgbClr val="F4F8FB"/>
          </a:solidFill>
          <a:ln cap="flat" cmpd="sng" w="12700">
            <a:solidFill>
              <a:srgbClr val="E8EE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3"/>
          <p:cNvSpPr/>
          <p:nvPr/>
        </p:nvSpPr>
        <p:spPr>
          <a:xfrm>
            <a:off x="4754880" y="868680"/>
            <a:ext cx="54864" cy="3566160"/>
          </a:xfrm>
          <a:prstGeom prst="rect">
            <a:avLst/>
          </a:prstGeom>
          <a:solidFill>
            <a:srgbClr val="163764"/>
          </a:solidFill>
          <a:ln cap="flat" cmpd="sng" w="12700">
            <a:solidFill>
              <a:srgbClr val="1637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62" name="Google Shape;62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0" y="1005840"/>
            <a:ext cx="731520" cy="731520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3"/>
          <p:cNvSpPr/>
          <p:nvPr/>
        </p:nvSpPr>
        <p:spPr>
          <a:xfrm>
            <a:off x="4983480" y="1874520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3764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163764"/>
                </a:solidFill>
                <a:latin typeface="Calibri"/>
                <a:ea typeface="Calibri"/>
                <a:cs typeface="Calibri"/>
                <a:sym typeface="Calibri"/>
              </a:rPr>
              <a:t>Java Swing (GUI)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3"/>
          <p:cNvSpPr/>
          <p:nvPr/>
        </p:nvSpPr>
        <p:spPr>
          <a:xfrm>
            <a:off x="5029200" y="2377440"/>
            <a:ext cx="347472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JTabbedPane ile 5 modüllü arayüz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1C2833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JTable + DefaultTableModel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1C2833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javax.swing.* — JavaFX değil!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1C2833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Sistem Look &amp; Feel entegrasyonu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3"/>
          <p:cNvSpPr/>
          <p:nvPr/>
        </p:nvSpPr>
        <p:spPr>
          <a:xfrm>
            <a:off x="4983480" y="4114800"/>
            <a:ext cx="3566160" cy="256032"/>
          </a:xfrm>
          <a:prstGeom prst="rect">
            <a:avLst/>
          </a:prstGeom>
          <a:solidFill>
            <a:srgbClr val="1ABC9C"/>
          </a:solidFill>
          <a:ln cap="flat" cmpd="sng" w="12700">
            <a:solidFill>
              <a:srgbClr val="1ABC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3"/>
          <p:cNvSpPr/>
          <p:nvPr/>
        </p:nvSpPr>
        <p:spPr>
          <a:xfrm>
            <a:off x="4983480" y="4114800"/>
            <a:ext cx="3566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✓ Çift mod: GUI + Terminal (argüman ile)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3764"/>
          </a:solidFill>
          <a:ln cap="flat" cmpd="sng" w="12700">
            <a:solidFill>
              <a:srgbClr val="1637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4"/>
          <p:cNvSpPr/>
          <p:nvPr/>
        </p:nvSpPr>
        <p:spPr>
          <a:xfrm>
            <a:off x="0" y="685800"/>
            <a:ext cx="9144000" cy="36576"/>
          </a:xfrm>
          <a:prstGeom prst="rect">
            <a:avLst/>
          </a:prstGeom>
          <a:solidFill>
            <a:srgbClr val="1ABC9C"/>
          </a:solidFill>
          <a:ln cap="flat" cmpd="sng" w="12700">
            <a:solidFill>
              <a:srgbClr val="1ABC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4"/>
          <p:cNvSpPr/>
          <p:nvPr/>
        </p:nvSpPr>
        <p:spPr>
          <a:xfrm>
            <a:off x="320040" y="0"/>
            <a:ext cx="7772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3. Sistem Modülleri ve Mimari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"/>
          <p:cNvSpPr/>
          <p:nvPr/>
        </p:nvSpPr>
        <p:spPr>
          <a:xfrm>
            <a:off x="8046720" y="0"/>
            <a:ext cx="914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ED6F1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AED6F1"/>
                </a:solidFill>
                <a:latin typeface="Calibri"/>
                <a:ea typeface="Calibri"/>
                <a:cs typeface="Calibri"/>
                <a:sym typeface="Calibri"/>
              </a:rPr>
              <a:t>4/15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4"/>
          <p:cNvSpPr/>
          <p:nvPr/>
        </p:nvSpPr>
        <p:spPr>
          <a:xfrm>
            <a:off x="365760" y="822960"/>
            <a:ext cx="8412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5 ana sekme — otel yönetiminin tüm yaşam döngüsünü kapsar: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4"/>
          <p:cNvSpPr/>
          <p:nvPr/>
        </p:nvSpPr>
        <p:spPr>
          <a:xfrm>
            <a:off x="320040" y="1298448"/>
            <a:ext cx="2697480" cy="14173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8EE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4"/>
          <p:cNvSpPr/>
          <p:nvPr/>
        </p:nvSpPr>
        <p:spPr>
          <a:xfrm>
            <a:off x="320040" y="1298448"/>
            <a:ext cx="54864" cy="1417320"/>
          </a:xfrm>
          <a:prstGeom prst="rect">
            <a:avLst/>
          </a:prstGeom>
          <a:solidFill>
            <a:srgbClr val="2471A3"/>
          </a:solidFill>
          <a:ln cap="flat" cmpd="sng" w="12700">
            <a:solidFill>
              <a:srgbClr val="2471A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4"/>
          <p:cNvSpPr/>
          <p:nvPr/>
        </p:nvSpPr>
        <p:spPr>
          <a:xfrm>
            <a:off x="521208" y="1389888"/>
            <a:ext cx="2423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71A3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2471A3"/>
                </a:solidFill>
                <a:latin typeface="Calibri"/>
                <a:ea typeface="Calibri"/>
                <a:cs typeface="Calibri"/>
                <a:sym typeface="Calibri"/>
              </a:rPr>
              <a:t>➕  Yeni Rezervasyon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4"/>
          <p:cNvSpPr/>
          <p:nvPr/>
        </p:nvSpPr>
        <p:spPr>
          <a:xfrm>
            <a:off x="521208" y="1773936"/>
            <a:ext cx="24231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Müşteri, oda, tarih ve şube kayıtlarının alındığı giriş noktası. Interval kontrolü burada tetiklenir.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4"/>
          <p:cNvSpPr/>
          <p:nvPr/>
        </p:nvSpPr>
        <p:spPr>
          <a:xfrm>
            <a:off x="3200400" y="1298448"/>
            <a:ext cx="2697480" cy="14173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8EE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4"/>
          <p:cNvSpPr/>
          <p:nvPr/>
        </p:nvSpPr>
        <p:spPr>
          <a:xfrm>
            <a:off x="3200400" y="1298448"/>
            <a:ext cx="54864" cy="1417320"/>
          </a:xfrm>
          <a:prstGeom prst="rect">
            <a:avLst/>
          </a:prstGeom>
          <a:solidFill>
            <a:srgbClr val="163764"/>
          </a:solidFill>
          <a:ln cap="flat" cmpd="sng" w="12700">
            <a:solidFill>
              <a:srgbClr val="1637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4"/>
          <p:cNvSpPr/>
          <p:nvPr/>
        </p:nvSpPr>
        <p:spPr>
          <a:xfrm>
            <a:off x="3401568" y="1389888"/>
            <a:ext cx="2423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764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63764"/>
                </a:solidFill>
                <a:latin typeface="Calibri"/>
                <a:ea typeface="Calibri"/>
                <a:cs typeface="Calibri"/>
                <a:sym typeface="Calibri"/>
              </a:rPr>
              <a:t>🛏  Aktif Rezervasyonlar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4"/>
          <p:cNvSpPr/>
          <p:nvPr/>
        </p:nvSpPr>
        <p:spPr>
          <a:xfrm>
            <a:off x="3401568" y="1773936"/>
            <a:ext cx="24231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Mevcut konaklamaların listesi. İptal işlemi bekleme listesini otomatik tetikler.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4"/>
          <p:cNvSpPr/>
          <p:nvPr/>
        </p:nvSpPr>
        <p:spPr>
          <a:xfrm>
            <a:off x="6080760" y="1298448"/>
            <a:ext cx="2697480" cy="14173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8EE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4"/>
          <p:cNvSpPr/>
          <p:nvPr/>
        </p:nvSpPr>
        <p:spPr>
          <a:xfrm>
            <a:off x="6080760" y="1298448"/>
            <a:ext cx="54864" cy="1417320"/>
          </a:xfrm>
          <a:prstGeom prst="rect">
            <a:avLst/>
          </a:prstGeom>
          <a:solidFill>
            <a:srgbClr val="2471A3"/>
          </a:solidFill>
          <a:ln cap="flat" cmpd="sng" w="12700">
            <a:solidFill>
              <a:srgbClr val="2471A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4"/>
          <p:cNvSpPr/>
          <p:nvPr/>
        </p:nvSpPr>
        <p:spPr>
          <a:xfrm>
            <a:off x="6281928" y="1389888"/>
            <a:ext cx="2423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71A3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2471A3"/>
                </a:solidFill>
                <a:latin typeface="Calibri"/>
                <a:ea typeface="Calibri"/>
                <a:cs typeface="Calibri"/>
                <a:sym typeface="Calibri"/>
              </a:rPr>
              <a:t>🏨  Odalar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4"/>
          <p:cNvSpPr/>
          <p:nvPr/>
        </p:nvSpPr>
        <p:spPr>
          <a:xfrm>
            <a:off x="6281928" y="1773936"/>
            <a:ext cx="24231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Tüm odaların müsaitlik durumu. Sağ tık → iptal veya checkout işlemi.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4"/>
          <p:cNvSpPr/>
          <p:nvPr/>
        </p:nvSpPr>
        <p:spPr>
          <a:xfrm>
            <a:off x="777240" y="2990088"/>
            <a:ext cx="4114800" cy="14173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8EE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4"/>
          <p:cNvSpPr/>
          <p:nvPr/>
        </p:nvSpPr>
        <p:spPr>
          <a:xfrm>
            <a:off x="777240" y="2990088"/>
            <a:ext cx="54864" cy="1417320"/>
          </a:xfrm>
          <a:prstGeom prst="rect">
            <a:avLst/>
          </a:prstGeom>
          <a:solidFill>
            <a:srgbClr val="D35400"/>
          </a:solidFill>
          <a:ln cap="flat" cmpd="sng" w="12700">
            <a:solidFill>
              <a:srgbClr val="D354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4"/>
          <p:cNvSpPr/>
          <p:nvPr/>
        </p:nvSpPr>
        <p:spPr>
          <a:xfrm>
            <a:off x="978408" y="3081528"/>
            <a:ext cx="3840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35400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D35400"/>
                </a:solidFill>
                <a:latin typeface="Calibri"/>
                <a:ea typeface="Calibri"/>
                <a:cs typeface="Calibri"/>
                <a:sym typeface="Calibri"/>
              </a:rPr>
              <a:t>⏳  Bekleme Listesi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4"/>
          <p:cNvSpPr/>
          <p:nvPr/>
        </p:nvSpPr>
        <p:spPr>
          <a:xfrm>
            <a:off x="978408" y="3465576"/>
            <a:ext cx="3840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Dolu tarihler için FIFO kuyruğu. Oda boşalınca otomatik aktifleşir.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4"/>
          <p:cNvSpPr/>
          <p:nvPr/>
        </p:nvSpPr>
        <p:spPr>
          <a:xfrm>
            <a:off x="5074920" y="2990088"/>
            <a:ext cx="4114800" cy="14173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8EE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4"/>
          <p:cNvSpPr/>
          <p:nvPr/>
        </p:nvSpPr>
        <p:spPr>
          <a:xfrm>
            <a:off x="5074920" y="2990088"/>
            <a:ext cx="54864" cy="1417320"/>
          </a:xfrm>
          <a:prstGeom prst="rect">
            <a:avLst/>
          </a:prstGeom>
          <a:solidFill>
            <a:srgbClr val="1E8449"/>
          </a:solidFill>
          <a:ln cap="flat" cmpd="sng" w="12700">
            <a:solidFill>
              <a:srgbClr val="1E844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4"/>
          <p:cNvSpPr/>
          <p:nvPr/>
        </p:nvSpPr>
        <p:spPr>
          <a:xfrm>
            <a:off x="5276088" y="3081528"/>
            <a:ext cx="3840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8449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E8449"/>
                </a:solidFill>
                <a:latin typeface="Calibri"/>
                <a:ea typeface="Calibri"/>
                <a:cs typeface="Calibri"/>
                <a:sym typeface="Calibri"/>
              </a:rPr>
              <a:t>📋  Geçmiş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4"/>
          <p:cNvSpPr/>
          <p:nvPr/>
        </p:nvSpPr>
        <p:spPr>
          <a:xfrm>
            <a:off x="5276088" y="3465576"/>
            <a:ext cx="3840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Tamamlanan/iptal rezervasyonların BST ile tarih sıralı arşivi.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5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3764"/>
          </a:solidFill>
          <a:ln cap="flat" cmpd="sng" w="12700">
            <a:solidFill>
              <a:srgbClr val="1637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5"/>
          <p:cNvSpPr/>
          <p:nvPr/>
        </p:nvSpPr>
        <p:spPr>
          <a:xfrm>
            <a:off x="0" y="685800"/>
            <a:ext cx="9144000" cy="36576"/>
          </a:xfrm>
          <a:prstGeom prst="rect">
            <a:avLst/>
          </a:prstGeom>
          <a:solidFill>
            <a:srgbClr val="1ABC9C"/>
          </a:solidFill>
          <a:ln cap="flat" cmpd="sng" w="12700">
            <a:solidFill>
              <a:srgbClr val="1ABC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5"/>
          <p:cNvSpPr/>
          <p:nvPr/>
        </p:nvSpPr>
        <p:spPr>
          <a:xfrm>
            <a:off x="320040" y="0"/>
            <a:ext cx="7772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4. Veri Yapıları Stratejimiz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5"/>
          <p:cNvSpPr/>
          <p:nvPr/>
        </p:nvSpPr>
        <p:spPr>
          <a:xfrm>
            <a:off x="8046720" y="0"/>
            <a:ext cx="914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ED6F1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AED6F1"/>
                </a:solidFill>
                <a:latin typeface="Calibri"/>
                <a:ea typeface="Calibri"/>
                <a:cs typeface="Calibri"/>
                <a:sym typeface="Calibri"/>
              </a:rPr>
              <a:t>5/15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5"/>
          <p:cNvSpPr/>
          <p:nvPr/>
        </p:nvSpPr>
        <p:spPr>
          <a:xfrm>
            <a:off x="365760" y="822960"/>
            <a:ext cx="8412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Her işlem için performansı optimize eden doğru veri yapısı seçilmiştir.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5"/>
          <p:cNvSpPr/>
          <p:nvPr/>
        </p:nvSpPr>
        <p:spPr>
          <a:xfrm>
            <a:off x="274320" y="1298448"/>
            <a:ext cx="1965960" cy="3383280"/>
          </a:xfrm>
          <a:prstGeom prst="rect">
            <a:avLst/>
          </a:prstGeom>
          <a:solidFill>
            <a:srgbClr val="F4F8FB"/>
          </a:solidFill>
          <a:ln cap="flat" cmpd="sng" w="12700">
            <a:solidFill>
              <a:srgbClr val="E8EE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5"/>
          <p:cNvSpPr/>
          <p:nvPr/>
        </p:nvSpPr>
        <p:spPr>
          <a:xfrm>
            <a:off x="274320" y="1298448"/>
            <a:ext cx="1965960" cy="502920"/>
          </a:xfrm>
          <a:prstGeom prst="rect">
            <a:avLst/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5"/>
          <p:cNvSpPr/>
          <p:nvPr/>
        </p:nvSpPr>
        <p:spPr>
          <a:xfrm>
            <a:off x="347472" y="1298448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Interval Overlap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Check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5"/>
          <p:cNvSpPr/>
          <p:nvPr/>
        </p:nvSpPr>
        <p:spPr>
          <a:xfrm>
            <a:off x="658368" y="1874520"/>
            <a:ext cx="1188720" cy="475488"/>
          </a:xfrm>
          <a:prstGeom prst="roundRect">
            <a:avLst>
              <a:gd fmla="val 15385" name="adj"/>
            </a:avLst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5"/>
          <p:cNvSpPr/>
          <p:nvPr/>
        </p:nvSpPr>
        <p:spPr>
          <a:xfrm>
            <a:off x="658368" y="1874520"/>
            <a:ext cx="11887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O(n)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5"/>
          <p:cNvSpPr/>
          <p:nvPr/>
        </p:nvSpPr>
        <p:spPr>
          <a:xfrm>
            <a:off x="347472" y="2423160"/>
            <a:ext cx="1828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Tarih Çakışma Kontrolü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5"/>
          <p:cNvSpPr/>
          <p:nvPr/>
        </p:nvSpPr>
        <p:spPr>
          <a:xfrm>
            <a:off x="384048" y="2788920"/>
            <a:ext cx="173736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Her oda, rezervasyon aralıklarını long[] listesinde tutar. Yeni rezervasyon için lineer tarama.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5"/>
          <p:cNvSpPr/>
          <p:nvPr/>
        </p:nvSpPr>
        <p:spPr>
          <a:xfrm>
            <a:off x="2441448" y="1298448"/>
            <a:ext cx="1965960" cy="3383280"/>
          </a:xfrm>
          <a:prstGeom prst="rect">
            <a:avLst/>
          </a:prstGeom>
          <a:solidFill>
            <a:srgbClr val="F4F8FB"/>
          </a:solidFill>
          <a:ln cap="flat" cmpd="sng" w="12700">
            <a:solidFill>
              <a:srgbClr val="E8EE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5"/>
          <p:cNvSpPr/>
          <p:nvPr/>
        </p:nvSpPr>
        <p:spPr>
          <a:xfrm>
            <a:off x="2441448" y="1298448"/>
            <a:ext cx="1965960" cy="502920"/>
          </a:xfrm>
          <a:prstGeom prst="rect">
            <a:avLst/>
          </a:prstGeom>
          <a:solidFill>
            <a:srgbClr val="2471A3"/>
          </a:solidFill>
          <a:ln cap="flat" cmpd="sng" w="12700">
            <a:solidFill>
              <a:srgbClr val="2471A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5"/>
          <p:cNvSpPr/>
          <p:nvPr/>
        </p:nvSpPr>
        <p:spPr>
          <a:xfrm>
            <a:off x="2514600" y="1298448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HashMap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5"/>
          <p:cNvSpPr/>
          <p:nvPr/>
        </p:nvSpPr>
        <p:spPr>
          <a:xfrm>
            <a:off x="2825496" y="1874520"/>
            <a:ext cx="1188720" cy="475488"/>
          </a:xfrm>
          <a:prstGeom prst="roundRect">
            <a:avLst>
              <a:gd fmla="val 15385" name="adj"/>
            </a:avLst>
          </a:prstGeom>
          <a:solidFill>
            <a:srgbClr val="2471A3"/>
          </a:solidFill>
          <a:ln cap="flat" cmpd="sng" w="12700">
            <a:solidFill>
              <a:srgbClr val="2471A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5"/>
          <p:cNvSpPr/>
          <p:nvPr/>
        </p:nvSpPr>
        <p:spPr>
          <a:xfrm>
            <a:off x="2825496" y="1874520"/>
            <a:ext cx="11887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O(1)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5"/>
          <p:cNvSpPr/>
          <p:nvPr/>
        </p:nvSpPr>
        <p:spPr>
          <a:xfrm>
            <a:off x="2514600" y="2423160"/>
            <a:ext cx="1828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471A3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471A3"/>
                </a:solidFill>
                <a:latin typeface="Calibri"/>
                <a:ea typeface="Calibri"/>
                <a:cs typeface="Calibri"/>
                <a:sym typeface="Calibri"/>
              </a:rPr>
              <a:t>Oda &amp; Müşteri Erişimi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5"/>
          <p:cNvSpPr/>
          <p:nvPr/>
        </p:nvSpPr>
        <p:spPr>
          <a:xfrm>
            <a:off x="2551176" y="2788920"/>
            <a:ext cx="173736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ID → nesne doğrudan eşleme. rooms.get(id) ile anında erişim.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5"/>
          <p:cNvSpPr/>
          <p:nvPr/>
        </p:nvSpPr>
        <p:spPr>
          <a:xfrm>
            <a:off x="4608576" y="1298448"/>
            <a:ext cx="1965960" cy="3383280"/>
          </a:xfrm>
          <a:prstGeom prst="rect">
            <a:avLst/>
          </a:prstGeom>
          <a:solidFill>
            <a:srgbClr val="F4F8FB"/>
          </a:solidFill>
          <a:ln cap="flat" cmpd="sng" w="12700">
            <a:solidFill>
              <a:srgbClr val="E8EE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5"/>
          <p:cNvSpPr/>
          <p:nvPr/>
        </p:nvSpPr>
        <p:spPr>
          <a:xfrm>
            <a:off x="4608576" y="1298448"/>
            <a:ext cx="1965960" cy="502920"/>
          </a:xfrm>
          <a:prstGeom prst="rect">
            <a:avLst/>
          </a:prstGeom>
          <a:solidFill>
            <a:srgbClr val="D35400"/>
          </a:solidFill>
          <a:ln cap="flat" cmpd="sng" w="12700">
            <a:solidFill>
              <a:srgbClr val="D354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5"/>
          <p:cNvSpPr/>
          <p:nvPr/>
        </p:nvSpPr>
        <p:spPr>
          <a:xfrm>
            <a:off x="4681728" y="1298448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LinkedList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(FIFO)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5"/>
          <p:cNvSpPr/>
          <p:nvPr/>
        </p:nvSpPr>
        <p:spPr>
          <a:xfrm>
            <a:off x="4992624" y="1874520"/>
            <a:ext cx="1188720" cy="475488"/>
          </a:xfrm>
          <a:prstGeom prst="roundRect">
            <a:avLst>
              <a:gd fmla="val 15385" name="adj"/>
            </a:avLst>
          </a:prstGeom>
          <a:solidFill>
            <a:srgbClr val="D35400"/>
          </a:solidFill>
          <a:ln cap="flat" cmpd="sng" w="12700">
            <a:solidFill>
              <a:srgbClr val="D354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5"/>
          <p:cNvSpPr/>
          <p:nvPr/>
        </p:nvSpPr>
        <p:spPr>
          <a:xfrm>
            <a:off x="4992624" y="1874520"/>
            <a:ext cx="11887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O(1)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5"/>
          <p:cNvSpPr/>
          <p:nvPr/>
        </p:nvSpPr>
        <p:spPr>
          <a:xfrm>
            <a:off x="4681728" y="2423160"/>
            <a:ext cx="1828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35400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D35400"/>
                </a:solidFill>
                <a:latin typeface="Calibri"/>
                <a:ea typeface="Calibri"/>
                <a:cs typeface="Calibri"/>
                <a:sym typeface="Calibri"/>
              </a:rPr>
              <a:t>Bekleme Listesi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5"/>
          <p:cNvSpPr/>
          <p:nvPr/>
        </p:nvSpPr>
        <p:spPr>
          <a:xfrm>
            <a:off x="4718304" y="2788920"/>
            <a:ext cx="173736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Kuyruk mantığıyla çalışır. Ekleme/silme için referans değişimi yeterli.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5"/>
          <p:cNvSpPr/>
          <p:nvPr/>
        </p:nvSpPr>
        <p:spPr>
          <a:xfrm>
            <a:off x="6775704" y="1298448"/>
            <a:ext cx="1965960" cy="3383280"/>
          </a:xfrm>
          <a:prstGeom prst="rect">
            <a:avLst/>
          </a:prstGeom>
          <a:solidFill>
            <a:srgbClr val="F4F8FB"/>
          </a:solidFill>
          <a:ln cap="flat" cmpd="sng" w="12700">
            <a:solidFill>
              <a:srgbClr val="E8EE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5"/>
          <p:cNvSpPr/>
          <p:nvPr/>
        </p:nvSpPr>
        <p:spPr>
          <a:xfrm>
            <a:off x="6775704" y="1298448"/>
            <a:ext cx="1965960" cy="502920"/>
          </a:xfrm>
          <a:prstGeom prst="rect">
            <a:avLst/>
          </a:prstGeom>
          <a:solidFill>
            <a:srgbClr val="1E8449"/>
          </a:solidFill>
          <a:ln cap="flat" cmpd="sng" w="12700">
            <a:solidFill>
              <a:srgbClr val="1E844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5"/>
          <p:cNvSpPr/>
          <p:nvPr/>
        </p:nvSpPr>
        <p:spPr>
          <a:xfrm>
            <a:off x="6848856" y="1298448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BST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5"/>
          <p:cNvSpPr/>
          <p:nvPr/>
        </p:nvSpPr>
        <p:spPr>
          <a:xfrm>
            <a:off x="7159752" y="1874520"/>
            <a:ext cx="1188720" cy="475488"/>
          </a:xfrm>
          <a:prstGeom prst="roundRect">
            <a:avLst>
              <a:gd fmla="val 15385" name="adj"/>
            </a:avLst>
          </a:prstGeom>
          <a:solidFill>
            <a:srgbClr val="1E8449"/>
          </a:solidFill>
          <a:ln cap="flat" cmpd="sng" w="12700">
            <a:solidFill>
              <a:srgbClr val="1E844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5"/>
          <p:cNvSpPr/>
          <p:nvPr/>
        </p:nvSpPr>
        <p:spPr>
          <a:xfrm>
            <a:off x="7159752" y="1874520"/>
            <a:ext cx="11887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O(log n)*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5"/>
          <p:cNvSpPr/>
          <p:nvPr/>
        </p:nvSpPr>
        <p:spPr>
          <a:xfrm>
            <a:off x="6848856" y="2423160"/>
            <a:ext cx="1828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8449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E8449"/>
                </a:solidFill>
                <a:latin typeface="Calibri"/>
                <a:ea typeface="Calibri"/>
                <a:cs typeface="Calibri"/>
                <a:sym typeface="Calibri"/>
              </a:rPr>
              <a:t>Geçmiş Arşiv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5"/>
          <p:cNvSpPr/>
          <p:nvPr/>
        </p:nvSpPr>
        <p:spPr>
          <a:xfrm>
            <a:off x="6885432" y="2788920"/>
            <a:ext cx="173736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Tamamlanan rezervasyonları giriş tarihine göre sıralı saklar.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5"/>
          <p:cNvSpPr/>
          <p:nvPr/>
        </p:nvSpPr>
        <p:spPr>
          <a:xfrm>
            <a:off x="365760" y="4773168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F8C8D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7F8C8D"/>
                </a:solidFill>
                <a:latin typeface="Calibri"/>
                <a:ea typeface="Calibri"/>
                <a:cs typeface="Calibri"/>
                <a:sym typeface="Calibri"/>
              </a:rPr>
              <a:t>* Ortalama. En kötü durum (dengesiz ağaç): O(n)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6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3764"/>
          </a:solidFill>
          <a:ln cap="flat" cmpd="sng" w="12700">
            <a:solidFill>
              <a:srgbClr val="1637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6"/>
          <p:cNvSpPr/>
          <p:nvPr/>
        </p:nvSpPr>
        <p:spPr>
          <a:xfrm>
            <a:off x="0" y="685800"/>
            <a:ext cx="9144000" cy="36576"/>
          </a:xfrm>
          <a:prstGeom prst="rect">
            <a:avLst/>
          </a:prstGeom>
          <a:solidFill>
            <a:srgbClr val="1ABC9C"/>
          </a:solidFill>
          <a:ln cap="flat" cmpd="sng" w="12700">
            <a:solidFill>
              <a:srgbClr val="1ABC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6"/>
          <p:cNvSpPr/>
          <p:nvPr/>
        </p:nvSpPr>
        <p:spPr>
          <a:xfrm>
            <a:off x="320040" y="0"/>
            <a:ext cx="7772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5. Çakışma Kontrolü: Interval Overlap Check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6"/>
          <p:cNvSpPr/>
          <p:nvPr/>
        </p:nvSpPr>
        <p:spPr>
          <a:xfrm>
            <a:off x="8046720" y="0"/>
            <a:ext cx="914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ED6F1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AED6F1"/>
                </a:solidFill>
                <a:latin typeface="Calibri"/>
                <a:ea typeface="Calibri"/>
                <a:cs typeface="Calibri"/>
                <a:sym typeface="Calibri"/>
              </a:rPr>
              <a:t>6/15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6"/>
          <p:cNvSpPr/>
          <p:nvPr/>
        </p:nvSpPr>
        <p:spPr>
          <a:xfrm>
            <a:off x="365760" y="804672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764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63764"/>
                </a:solidFill>
                <a:latin typeface="Calibri"/>
                <a:ea typeface="Calibri"/>
                <a:cs typeface="Calibri"/>
                <a:sym typeface="Calibri"/>
              </a:rPr>
              <a:t>Projenin en kritik algoritması: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6"/>
          <p:cNvSpPr/>
          <p:nvPr/>
        </p:nvSpPr>
        <p:spPr>
          <a:xfrm>
            <a:off x="365760" y="1143000"/>
            <a:ext cx="45720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"Bir odaya aynı tarihlerde iki farklı rezervasyon yapılmasını nasıl engelleriz?"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6"/>
          <p:cNvSpPr/>
          <p:nvPr/>
        </p:nvSpPr>
        <p:spPr>
          <a:xfrm>
            <a:off x="365760" y="1828800"/>
            <a:ext cx="457200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Her oda, rezervasyonları long[] { giris, cikis } listesinde saklar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1C2833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Yeni tarih gelince mevcut tüm aralıklarla kıyaslanır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1C2833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Çakışma kuralı: a &lt; d VE c &lt; b → çakışıyor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1C2833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Çakışıyorsa → oda doluysa Bekleme Listesine ekle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6"/>
          <p:cNvSpPr/>
          <p:nvPr/>
        </p:nvSpPr>
        <p:spPr>
          <a:xfrm>
            <a:off x="5029200" y="804672"/>
            <a:ext cx="3749040" cy="2743200"/>
          </a:xfrm>
          <a:prstGeom prst="rect">
            <a:avLst/>
          </a:prstGeom>
          <a:solidFill>
            <a:srgbClr val="1C2833"/>
          </a:solidFill>
          <a:ln cap="flat" cmpd="sng" w="12700">
            <a:solidFill>
              <a:srgbClr val="E8EE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6"/>
          <p:cNvSpPr/>
          <p:nvPr/>
        </p:nvSpPr>
        <p:spPr>
          <a:xfrm>
            <a:off x="5166360" y="914400"/>
            <a:ext cx="3474720" cy="2423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98DB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3498DB"/>
                </a:solidFill>
                <a:latin typeface="Consolas"/>
                <a:ea typeface="Consolas"/>
                <a:cs typeface="Consolas"/>
                <a:sym typeface="Consolas"/>
              </a:rPr>
              <a:t>boolean </a:t>
            </a:r>
            <a:r>
              <a:rPr b="1" i="0" lang="en-US" sz="1100" u="none" cap="none" strike="noStrike">
                <a:solidFill>
                  <a:srgbClr val="F39C12"/>
                </a:solidFill>
                <a:latin typeface="Consolas"/>
                <a:ea typeface="Consolas"/>
                <a:cs typeface="Consolas"/>
                <a:sym typeface="Consolas"/>
              </a:rPr>
              <a:t>isAvailable</a:t>
            </a:r>
            <a:r>
              <a:rPr b="0" i="0" lang="en-US" sz="11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(LocalDate in, LocalDate out) {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CC71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2ECC71"/>
                </a:solidFill>
                <a:latin typeface="Consolas"/>
                <a:ea typeface="Consolas"/>
                <a:cs typeface="Consolas"/>
                <a:sym typeface="Consolas"/>
              </a:rPr>
              <a:t>  long a = in.toEpochDay(), b = out.toEpochDay();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for (long[] iv : intervals)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74C3C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E74C3C"/>
                </a:solidFill>
                <a:latin typeface="Consolas"/>
                <a:ea typeface="Consolas"/>
                <a:cs typeface="Consolas"/>
                <a:sym typeface="Consolas"/>
              </a:rPr>
              <a:t>    if (a &lt; iv[1] &amp;&amp; iv[0] &lt; b)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F8C8D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7F8C8D"/>
                </a:solidFill>
                <a:latin typeface="Consolas"/>
                <a:ea typeface="Consolas"/>
                <a:cs typeface="Consolas"/>
                <a:sym typeface="Consolas"/>
              </a:rPr>
              <a:t>      return false; // ÇAKIŞIYOR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CC71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2ECC71"/>
                </a:solidFill>
                <a:latin typeface="Consolas"/>
                <a:ea typeface="Consolas"/>
                <a:cs typeface="Consolas"/>
                <a:sym typeface="Consolas"/>
              </a:rPr>
              <a:t>  return true; // Müsait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6"/>
          <p:cNvSpPr/>
          <p:nvPr/>
        </p:nvSpPr>
        <p:spPr>
          <a:xfrm>
            <a:off x="365760" y="3886200"/>
            <a:ext cx="8412480" cy="960120"/>
          </a:xfrm>
          <a:prstGeom prst="rect">
            <a:avLst/>
          </a:prstGeom>
          <a:solidFill>
            <a:srgbClr val="F4F8FB"/>
          </a:solidFill>
          <a:ln cap="flat" cmpd="sng" w="12700">
            <a:solidFill>
              <a:srgbClr val="E8EE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6"/>
          <p:cNvSpPr/>
          <p:nvPr/>
        </p:nvSpPr>
        <p:spPr>
          <a:xfrm>
            <a:off x="365760" y="3886200"/>
            <a:ext cx="54864" cy="960120"/>
          </a:xfrm>
          <a:prstGeom prst="rect">
            <a:avLst/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6"/>
          <p:cNvSpPr/>
          <p:nvPr/>
        </p:nvSpPr>
        <p:spPr>
          <a:xfrm>
            <a:off x="640080" y="3977640"/>
            <a:ext cx="80467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764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63764"/>
                </a:solidFill>
                <a:latin typeface="Calibri"/>
                <a:ea typeface="Calibri"/>
                <a:cs typeface="Calibri"/>
                <a:sym typeface="Calibri"/>
              </a:rPr>
              <a:t>Zaman Karmaşıklığı:  </a:t>
            </a:r>
            <a:r>
              <a:rPr b="1" i="0" lang="en-US" sz="18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O(n)  </a:t>
            </a:r>
            <a:r>
              <a:rPr b="0" i="0" lang="en-US" sz="1300" u="none" cap="none" strike="noStrike">
                <a:solidFill>
                  <a:srgbClr val="7F8C8D"/>
                </a:solidFill>
                <a:latin typeface="Calibri"/>
                <a:ea typeface="Calibri"/>
                <a:cs typeface="Calibri"/>
                <a:sym typeface="Calibri"/>
              </a:rPr>
              <a:t>— n: odanın mevcut rezervasyon sayısı</a:t>
            </a:r>
            <a:r>
              <a:rPr b="0" i="0" lang="en-US" sz="1300" u="none" cap="none" strike="noStrike">
                <a:solidFill>
                  <a:srgbClr val="E8EEF4"/>
                </a:solidFill>
                <a:latin typeface="Calibri"/>
                <a:ea typeface="Calibri"/>
                <a:cs typeface="Calibri"/>
                <a:sym typeface="Calibri"/>
              </a:rPr>
              <a:t>     |     </a:t>
            </a:r>
            <a:r>
              <a:rPr b="1" i="0" lang="en-US" sz="1300" u="none" cap="none" strike="noStrike">
                <a:solidFill>
                  <a:srgbClr val="163764"/>
                </a:solidFill>
                <a:latin typeface="Calibri"/>
                <a:ea typeface="Calibri"/>
                <a:cs typeface="Calibri"/>
                <a:sym typeface="Calibri"/>
              </a:rPr>
              <a:t>Alan:  </a:t>
            </a:r>
            <a:r>
              <a:rPr b="1" i="0" lang="en-US" sz="1800" u="none" cap="none" strike="noStrike">
                <a:solidFill>
                  <a:srgbClr val="1E8449"/>
                </a:solidFill>
                <a:latin typeface="Calibri"/>
                <a:ea typeface="Calibri"/>
                <a:cs typeface="Calibri"/>
                <a:sym typeface="Calibri"/>
              </a:rPr>
              <a:t>O(1)  </a:t>
            </a:r>
            <a:r>
              <a:rPr b="0" i="0" lang="en-US" sz="1300" u="none" cap="none" strike="noStrike">
                <a:solidFill>
                  <a:srgbClr val="7F8C8D"/>
                </a:solidFill>
                <a:latin typeface="Calibri"/>
                <a:ea typeface="Calibri"/>
                <a:cs typeface="Calibri"/>
                <a:sym typeface="Calibri"/>
              </a:rPr>
              <a:t>— ekstra bellek yok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7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3764"/>
          </a:solidFill>
          <a:ln cap="flat" cmpd="sng" w="12700">
            <a:solidFill>
              <a:srgbClr val="1637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7"/>
          <p:cNvSpPr/>
          <p:nvPr/>
        </p:nvSpPr>
        <p:spPr>
          <a:xfrm>
            <a:off x="0" y="685800"/>
            <a:ext cx="9144000" cy="36576"/>
          </a:xfrm>
          <a:prstGeom prst="rect">
            <a:avLst/>
          </a:prstGeom>
          <a:solidFill>
            <a:srgbClr val="1ABC9C"/>
          </a:solidFill>
          <a:ln cap="flat" cmpd="sng" w="12700">
            <a:solidFill>
              <a:srgbClr val="1ABC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7"/>
          <p:cNvSpPr/>
          <p:nvPr/>
        </p:nvSpPr>
        <p:spPr>
          <a:xfrm>
            <a:off x="320040" y="0"/>
            <a:ext cx="7772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6. Hızlı Veri Erişimi: HashMap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7"/>
          <p:cNvSpPr/>
          <p:nvPr/>
        </p:nvSpPr>
        <p:spPr>
          <a:xfrm>
            <a:off x="8046720" y="0"/>
            <a:ext cx="914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ED6F1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AED6F1"/>
                </a:solidFill>
                <a:latin typeface="Calibri"/>
                <a:ea typeface="Calibri"/>
                <a:cs typeface="Calibri"/>
                <a:sym typeface="Calibri"/>
              </a:rPr>
              <a:t>7/15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62" name="Google Shape;162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60" y="822960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7"/>
          <p:cNvSpPr/>
          <p:nvPr/>
        </p:nvSpPr>
        <p:spPr>
          <a:xfrm>
            <a:off x="1005840" y="868680"/>
            <a:ext cx="4114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Müşteri ID veya Oda ID girildiğinde sisteme anında ulaşılır.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7"/>
          <p:cNvSpPr/>
          <p:nvPr/>
        </p:nvSpPr>
        <p:spPr>
          <a:xfrm>
            <a:off x="365760" y="1417320"/>
            <a:ext cx="457200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Key-Value (Anahtar-Değer) eşleşmesi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C2833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Key: Benzersiz String ID  →  Value: Oda / Müşteri nesnesi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2471A3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2471A3"/>
                </a:solidFill>
                <a:latin typeface="Calibri"/>
                <a:ea typeface="Calibri"/>
                <a:cs typeface="Calibri"/>
                <a:sym typeface="Calibri"/>
              </a:rPr>
              <a:t>rooms.get("R1") — O(1) doğrudan erişim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2471A3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2471A3"/>
                </a:solidFill>
                <a:latin typeface="Calibri"/>
                <a:ea typeface="Calibri"/>
                <a:cs typeface="Calibri"/>
                <a:sym typeface="Calibri"/>
              </a:rPr>
              <a:t>custs.get(custId) — müşteri bilgisine anında ulaş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C0392B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ArrayList kullanılsaydı O(n) lineer tarama gerekirdi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7"/>
          <p:cNvSpPr/>
          <p:nvPr/>
        </p:nvSpPr>
        <p:spPr>
          <a:xfrm>
            <a:off x="5074920" y="804672"/>
            <a:ext cx="3703320" cy="2834640"/>
          </a:xfrm>
          <a:prstGeom prst="rect">
            <a:avLst/>
          </a:prstGeom>
          <a:solidFill>
            <a:srgbClr val="1C2833"/>
          </a:solidFill>
          <a:ln cap="flat" cmpd="sng" w="12700">
            <a:solidFill>
              <a:srgbClr val="E8EE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7"/>
          <p:cNvSpPr/>
          <p:nvPr/>
        </p:nvSpPr>
        <p:spPr>
          <a:xfrm>
            <a:off x="5193792" y="914400"/>
            <a:ext cx="3474720" cy="251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F8C8D"/>
              </a:buClr>
              <a:buSzPts val="1080"/>
              <a:buFont typeface="Consolas"/>
              <a:buNone/>
            </a:pPr>
            <a:r>
              <a:rPr b="0" i="0" lang="en-US" sz="1080" u="none" cap="none" strike="noStrike">
                <a:solidFill>
                  <a:srgbClr val="7F8C8D"/>
                </a:solidFill>
                <a:latin typeface="Consolas"/>
                <a:ea typeface="Consolas"/>
                <a:cs typeface="Consolas"/>
                <a:sym typeface="Consolas"/>
              </a:rPr>
              <a:t>// Oda ve Müşteri mapleri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98DB"/>
              </a:buClr>
              <a:buSzPts val="1080"/>
              <a:buFont typeface="Consolas"/>
              <a:buNone/>
            </a:pPr>
            <a:r>
              <a:rPr b="0" i="0" lang="en-US" sz="1080" u="none" cap="none" strike="noStrike">
                <a:solidFill>
                  <a:srgbClr val="3498DB"/>
                </a:solidFill>
                <a:latin typeface="Consolas"/>
                <a:ea typeface="Consolas"/>
                <a:cs typeface="Consolas"/>
                <a:sym typeface="Consolas"/>
              </a:rPr>
              <a:t>HashMap</a:t>
            </a:r>
            <a:r>
              <a:rPr b="0" i="0" lang="en-US" sz="108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&lt;String, Room&gt; rooms = </a:t>
            </a:r>
            <a:r>
              <a:rPr b="0" i="0" lang="en-US" sz="1080" u="none" cap="none" strike="noStrike">
                <a:solidFill>
                  <a:srgbClr val="F39C12"/>
                </a:solidFill>
                <a:latin typeface="Consolas"/>
                <a:ea typeface="Consolas"/>
                <a:cs typeface="Consolas"/>
                <a:sym typeface="Consolas"/>
              </a:rPr>
              <a:t>new HashMap&lt;&gt;();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80"/>
              <a:buFont typeface="Calibri"/>
              <a:buNone/>
            </a:pPr>
            <a:r>
              <a:t/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98DB"/>
              </a:buClr>
              <a:buSzPts val="1080"/>
              <a:buFont typeface="Consolas"/>
              <a:buNone/>
            </a:pPr>
            <a:r>
              <a:rPr b="0" i="0" lang="en-US" sz="1080" u="none" cap="none" strike="noStrike">
                <a:solidFill>
                  <a:srgbClr val="3498DB"/>
                </a:solidFill>
                <a:latin typeface="Consolas"/>
                <a:ea typeface="Consolas"/>
                <a:cs typeface="Consolas"/>
                <a:sym typeface="Consolas"/>
              </a:rPr>
              <a:t>HashMap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80"/>
              <a:buFont typeface="Consolas"/>
              <a:buNone/>
            </a:pPr>
            <a:r>
              <a:rPr b="0" i="0" lang="en-US" sz="108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&lt;String, Customer&gt; custs = </a:t>
            </a:r>
            <a:r>
              <a:rPr b="0" i="0" lang="en-US" sz="1080" u="none" cap="none" strike="noStrike">
                <a:solidFill>
                  <a:srgbClr val="F39C12"/>
                </a:solidFill>
                <a:latin typeface="Consolas"/>
                <a:ea typeface="Consolas"/>
                <a:cs typeface="Consolas"/>
                <a:sym typeface="Consolas"/>
              </a:rPr>
              <a:t>new HashMap&lt;&gt;();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80"/>
              <a:buFont typeface="Calibri"/>
              <a:buNone/>
            </a:pPr>
            <a:r>
              <a:t/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80"/>
              <a:buFont typeface="Calibri"/>
              <a:buNone/>
            </a:pPr>
            <a:r>
              <a:t/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F8C8D"/>
              </a:buClr>
              <a:buSzPts val="1080"/>
              <a:buFont typeface="Consolas"/>
              <a:buNone/>
            </a:pPr>
            <a:r>
              <a:rPr b="0" i="0" lang="en-US" sz="1080" u="none" cap="none" strike="noStrike">
                <a:solidFill>
                  <a:srgbClr val="7F8C8D"/>
                </a:solidFill>
                <a:latin typeface="Consolas"/>
                <a:ea typeface="Consolas"/>
                <a:cs typeface="Consolas"/>
                <a:sym typeface="Consolas"/>
              </a:rPr>
              <a:t>// O(1) doğrudan erişim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CC71"/>
              </a:buClr>
              <a:buSzPts val="1080"/>
              <a:buFont typeface="Consolas"/>
              <a:buNone/>
            </a:pPr>
            <a:r>
              <a:rPr b="0" i="0" lang="en-US" sz="1080" u="none" cap="none" strike="noStrike">
                <a:solidFill>
                  <a:srgbClr val="2ECC71"/>
                </a:solidFill>
                <a:latin typeface="Consolas"/>
                <a:ea typeface="Consolas"/>
                <a:cs typeface="Consolas"/>
                <a:sym typeface="Consolas"/>
              </a:rPr>
              <a:t>Room rm = rooms.get(roomId); // O(1)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CC71"/>
              </a:buClr>
              <a:buSzPts val="1080"/>
              <a:buFont typeface="Consolas"/>
              <a:buNone/>
            </a:pPr>
            <a:r>
              <a:rPr b="0" i="0" lang="en-US" sz="1080" u="none" cap="none" strike="noStrike">
                <a:solidFill>
                  <a:srgbClr val="2ECC71"/>
                </a:solidFill>
                <a:latin typeface="Consolas"/>
                <a:ea typeface="Consolas"/>
                <a:cs typeface="Consolas"/>
                <a:sym typeface="Consolas"/>
              </a:rPr>
              <a:t>Customer c = custs.get(custId); // O(1)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7"/>
          <p:cNvSpPr/>
          <p:nvPr/>
        </p:nvSpPr>
        <p:spPr>
          <a:xfrm>
            <a:off x="365760" y="3840480"/>
            <a:ext cx="8412480" cy="960120"/>
          </a:xfrm>
          <a:prstGeom prst="rect">
            <a:avLst/>
          </a:prstGeom>
          <a:solidFill>
            <a:srgbClr val="F4F8FB"/>
          </a:solidFill>
          <a:ln cap="flat" cmpd="sng" w="12700">
            <a:solidFill>
              <a:srgbClr val="E8EE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7"/>
          <p:cNvSpPr/>
          <p:nvPr/>
        </p:nvSpPr>
        <p:spPr>
          <a:xfrm>
            <a:off x="365760" y="3840480"/>
            <a:ext cx="54864" cy="960120"/>
          </a:xfrm>
          <a:prstGeom prst="rect">
            <a:avLst/>
          </a:prstGeom>
          <a:solidFill>
            <a:srgbClr val="2471A3"/>
          </a:solidFill>
          <a:ln cap="flat" cmpd="sng" w="12700">
            <a:solidFill>
              <a:srgbClr val="2471A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7"/>
          <p:cNvSpPr/>
          <p:nvPr/>
        </p:nvSpPr>
        <p:spPr>
          <a:xfrm>
            <a:off x="640080" y="3931920"/>
            <a:ext cx="80467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764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63764"/>
                </a:solidFill>
                <a:latin typeface="Calibri"/>
                <a:ea typeface="Calibri"/>
                <a:cs typeface="Calibri"/>
                <a:sym typeface="Calibri"/>
              </a:rPr>
              <a:t>Neden HashMap?  </a:t>
            </a:r>
            <a:r>
              <a:rPr b="1" i="0" lang="en-US" sz="13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ArrayList  →  O(n) tarama  </a:t>
            </a:r>
            <a:r>
              <a:rPr b="0" i="0" lang="en-US" sz="1300" u="none" cap="none" strike="noStrike">
                <a:solidFill>
                  <a:srgbClr val="7F8C8D"/>
                </a:solidFill>
                <a:latin typeface="Calibri"/>
                <a:ea typeface="Calibri"/>
                <a:cs typeface="Calibri"/>
                <a:sym typeface="Calibri"/>
              </a:rPr>
              <a:t>  vs  </a:t>
            </a:r>
            <a:r>
              <a:rPr b="1" i="0" lang="en-US" sz="1300" u="none" cap="none" strike="noStrike">
                <a:solidFill>
                  <a:srgbClr val="1E8449"/>
                </a:solidFill>
                <a:latin typeface="Calibri"/>
                <a:ea typeface="Calibri"/>
                <a:cs typeface="Calibri"/>
                <a:sym typeface="Calibri"/>
              </a:rPr>
              <a:t>HashMap  →  O(1) hash lookup</a:t>
            </a:r>
            <a:r>
              <a:rPr b="0" i="0" lang="en-US" sz="1300" u="none" cap="none" strike="noStrike">
                <a:solidFill>
                  <a:srgbClr val="7F8C8D"/>
                </a:solidFill>
                <a:latin typeface="Calibri"/>
                <a:ea typeface="Calibri"/>
                <a:cs typeface="Calibri"/>
                <a:sym typeface="Calibri"/>
              </a:rPr>
              <a:t>  (n = 1.000 oda için 1000x hız farkı)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3764"/>
          </a:solidFill>
          <a:ln cap="flat" cmpd="sng" w="12700">
            <a:solidFill>
              <a:srgbClr val="1637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8"/>
          <p:cNvSpPr/>
          <p:nvPr/>
        </p:nvSpPr>
        <p:spPr>
          <a:xfrm>
            <a:off x="0" y="685800"/>
            <a:ext cx="9144000" cy="36576"/>
          </a:xfrm>
          <a:prstGeom prst="rect">
            <a:avLst/>
          </a:prstGeom>
          <a:solidFill>
            <a:srgbClr val="1ABC9C"/>
          </a:solidFill>
          <a:ln cap="flat" cmpd="sng" w="12700">
            <a:solidFill>
              <a:srgbClr val="1ABC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8"/>
          <p:cNvSpPr/>
          <p:nvPr/>
        </p:nvSpPr>
        <p:spPr>
          <a:xfrm>
            <a:off x="320040" y="0"/>
            <a:ext cx="7772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7. Bekleme Listesi: LinkedList (FIFO)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8"/>
          <p:cNvSpPr/>
          <p:nvPr/>
        </p:nvSpPr>
        <p:spPr>
          <a:xfrm>
            <a:off x="8046720" y="0"/>
            <a:ext cx="914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ED6F1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AED6F1"/>
                </a:solidFill>
                <a:latin typeface="Calibri"/>
                <a:ea typeface="Calibri"/>
                <a:cs typeface="Calibri"/>
                <a:sym typeface="Calibri"/>
              </a:rPr>
              <a:t>8/15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8"/>
          <p:cNvSpPr/>
          <p:nvPr/>
        </p:nvSpPr>
        <p:spPr>
          <a:xfrm>
            <a:off x="365760" y="804672"/>
            <a:ext cx="8412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Oda bu tarihlerde doluysa müşteri bekleme listesine alınır. İlk gelen, ilk çıkar.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8"/>
          <p:cNvSpPr/>
          <p:nvPr/>
        </p:nvSpPr>
        <p:spPr>
          <a:xfrm>
            <a:off x="365760" y="1261872"/>
            <a:ext cx="8412480" cy="1463040"/>
          </a:xfrm>
          <a:prstGeom prst="rect">
            <a:avLst/>
          </a:prstGeom>
          <a:solidFill>
            <a:srgbClr val="F4F8FB"/>
          </a:solidFill>
          <a:ln cap="flat" cmpd="sng" w="12700">
            <a:solidFill>
              <a:srgbClr val="E8EE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8"/>
          <p:cNvSpPr/>
          <p:nvPr/>
        </p:nvSpPr>
        <p:spPr>
          <a:xfrm>
            <a:off x="365760" y="1261872"/>
            <a:ext cx="54864" cy="1463040"/>
          </a:xfrm>
          <a:prstGeom prst="rect">
            <a:avLst/>
          </a:prstGeom>
          <a:solidFill>
            <a:srgbClr val="D35400"/>
          </a:solidFill>
          <a:ln cap="flat" cmpd="sng" w="12700">
            <a:solidFill>
              <a:srgbClr val="D354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8"/>
          <p:cNvSpPr/>
          <p:nvPr/>
        </p:nvSpPr>
        <p:spPr>
          <a:xfrm>
            <a:off x="640080" y="1389888"/>
            <a:ext cx="7863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3764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63764"/>
                </a:solidFill>
                <a:latin typeface="Calibri"/>
                <a:ea typeface="Calibri"/>
                <a:cs typeface="Calibri"/>
                <a:sym typeface="Calibri"/>
              </a:rPr>
              <a:t>Kuyruk Mantığı (FIFO)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8"/>
          <p:cNvSpPr/>
          <p:nvPr/>
        </p:nvSpPr>
        <p:spPr>
          <a:xfrm>
            <a:off x="914400" y="1755648"/>
            <a:ext cx="1508760" cy="658368"/>
          </a:xfrm>
          <a:prstGeom prst="roundRect">
            <a:avLst>
              <a:gd fmla="val 11111" name="adj"/>
            </a:avLst>
          </a:prstGeom>
          <a:solidFill>
            <a:srgbClr val="163764"/>
          </a:solidFill>
          <a:ln cap="flat" cmpd="sng" w="12700">
            <a:solidFill>
              <a:srgbClr val="1637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8"/>
          <p:cNvSpPr/>
          <p:nvPr/>
        </p:nvSpPr>
        <p:spPr>
          <a:xfrm>
            <a:off x="914400" y="1755648"/>
            <a:ext cx="150876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HEAD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(İlk Gelen)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5" name="Google Shape;185;p8"/>
          <p:cNvCxnSpPr/>
          <p:nvPr/>
        </p:nvCxnSpPr>
        <p:spPr>
          <a:xfrm>
            <a:off x="2423160" y="2084832"/>
            <a:ext cx="411480" cy="0"/>
          </a:xfrm>
          <a:prstGeom prst="straightConnector1">
            <a:avLst/>
          </a:prstGeom>
          <a:noFill/>
          <a:ln cap="flat" cmpd="sng" w="31750">
            <a:solidFill>
              <a:srgbClr val="1ABC9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6" name="Google Shape;186;p8"/>
          <p:cNvSpPr/>
          <p:nvPr/>
        </p:nvSpPr>
        <p:spPr>
          <a:xfrm>
            <a:off x="2423160" y="1938528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BC9C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1ABC9C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8"/>
          <p:cNvSpPr/>
          <p:nvPr/>
        </p:nvSpPr>
        <p:spPr>
          <a:xfrm>
            <a:off x="2834640" y="1755648"/>
            <a:ext cx="1508760" cy="658368"/>
          </a:xfrm>
          <a:prstGeom prst="roundRect">
            <a:avLst>
              <a:gd fmla="val 11111" name="adj"/>
            </a:avLst>
          </a:prstGeom>
          <a:solidFill>
            <a:srgbClr val="2471A3"/>
          </a:solidFill>
          <a:ln cap="flat" cmpd="sng" w="12700">
            <a:solidFill>
              <a:srgbClr val="1637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8"/>
          <p:cNvSpPr/>
          <p:nvPr/>
        </p:nvSpPr>
        <p:spPr>
          <a:xfrm>
            <a:off x="2834640" y="1755648"/>
            <a:ext cx="150876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2. Müşteri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9" name="Google Shape;189;p8"/>
          <p:cNvCxnSpPr/>
          <p:nvPr/>
        </p:nvCxnSpPr>
        <p:spPr>
          <a:xfrm>
            <a:off x="4343400" y="2084832"/>
            <a:ext cx="411480" cy="0"/>
          </a:xfrm>
          <a:prstGeom prst="straightConnector1">
            <a:avLst/>
          </a:prstGeom>
          <a:noFill/>
          <a:ln cap="flat" cmpd="sng" w="31750">
            <a:solidFill>
              <a:srgbClr val="1ABC9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0" name="Google Shape;190;p8"/>
          <p:cNvSpPr/>
          <p:nvPr/>
        </p:nvSpPr>
        <p:spPr>
          <a:xfrm>
            <a:off x="4343400" y="1938528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BC9C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1ABC9C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8"/>
          <p:cNvSpPr/>
          <p:nvPr/>
        </p:nvSpPr>
        <p:spPr>
          <a:xfrm>
            <a:off x="4754880" y="1755648"/>
            <a:ext cx="1508760" cy="658368"/>
          </a:xfrm>
          <a:prstGeom prst="roundRect">
            <a:avLst>
              <a:gd fmla="val 11111" name="adj"/>
            </a:avLst>
          </a:prstGeom>
          <a:solidFill>
            <a:srgbClr val="2471A3"/>
          </a:solidFill>
          <a:ln cap="flat" cmpd="sng" w="12700">
            <a:solidFill>
              <a:srgbClr val="1637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8"/>
          <p:cNvSpPr/>
          <p:nvPr/>
        </p:nvSpPr>
        <p:spPr>
          <a:xfrm>
            <a:off x="4754880" y="1755648"/>
            <a:ext cx="150876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3. Müşteri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3" name="Google Shape;193;p8"/>
          <p:cNvCxnSpPr/>
          <p:nvPr/>
        </p:nvCxnSpPr>
        <p:spPr>
          <a:xfrm>
            <a:off x="6263640" y="2084832"/>
            <a:ext cx="411480" cy="0"/>
          </a:xfrm>
          <a:prstGeom prst="straightConnector1">
            <a:avLst/>
          </a:prstGeom>
          <a:noFill/>
          <a:ln cap="flat" cmpd="sng" w="31750">
            <a:solidFill>
              <a:srgbClr val="1ABC9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4" name="Google Shape;194;p8"/>
          <p:cNvSpPr/>
          <p:nvPr/>
        </p:nvSpPr>
        <p:spPr>
          <a:xfrm>
            <a:off x="6263640" y="1938528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BC9C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1ABC9C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8"/>
          <p:cNvSpPr/>
          <p:nvPr/>
        </p:nvSpPr>
        <p:spPr>
          <a:xfrm>
            <a:off x="6675120" y="1755648"/>
            <a:ext cx="1508760" cy="658368"/>
          </a:xfrm>
          <a:prstGeom prst="roundRect">
            <a:avLst>
              <a:gd fmla="val 11111" name="adj"/>
            </a:avLst>
          </a:prstGeom>
          <a:solidFill>
            <a:srgbClr val="163764"/>
          </a:solidFill>
          <a:ln cap="flat" cmpd="sng" w="12700">
            <a:solidFill>
              <a:srgbClr val="1637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8"/>
          <p:cNvSpPr/>
          <p:nvPr/>
        </p:nvSpPr>
        <p:spPr>
          <a:xfrm>
            <a:off x="6675120" y="1755648"/>
            <a:ext cx="150876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TAIL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(Son Gelen)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8"/>
          <p:cNvSpPr/>
          <p:nvPr/>
        </p:nvSpPr>
        <p:spPr>
          <a:xfrm>
            <a:off x="868680" y="2834640"/>
            <a:ext cx="2286000" cy="438912"/>
          </a:xfrm>
          <a:prstGeom prst="rect">
            <a:avLst/>
          </a:prstGeom>
          <a:solidFill>
            <a:srgbClr val="163764"/>
          </a:solidFill>
          <a:ln cap="flat" cmpd="sng" w="1270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8"/>
          <p:cNvSpPr/>
          <p:nvPr/>
        </p:nvSpPr>
        <p:spPr>
          <a:xfrm>
            <a:off x="941832" y="2834640"/>
            <a:ext cx="2139696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50"/>
              <a:buFont typeface="Calibri"/>
              <a:buNone/>
            </a:pPr>
            <a:r>
              <a:t/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8"/>
          <p:cNvSpPr/>
          <p:nvPr/>
        </p:nvSpPr>
        <p:spPr>
          <a:xfrm>
            <a:off x="3154680" y="2834640"/>
            <a:ext cx="2560320" cy="438912"/>
          </a:xfrm>
          <a:prstGeom prst="rect">
            <a:avLst/>
          </a:prstGeom>
          <a:solidFill>
            <a:srgbClr val="163764"/>
          </a:solidFill>
          <a:ln cap="flat" cmpd="sng" w="1270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8"/>
          <p:cNvSpPr/>
          <p:nvPr/>
        </p:nvSpPr>
        <p:spPr>
          <a:xfrm>
            <a:off x="3227832" y="2834640"/>
            <a:ext cx="2414016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ArrayList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8"/>
          <p:cNvSpPr/>
          <p:nvPr/>
        </p:nvSpPr>
        <p:spPr>
          <a:xfrm>
            <a:off x="5715000" y="2834640"/>
            <a:ext cx="2560320" cy="438912"/>
          </a:xfrm>
          <a:prstGeom prst="rect">
            <a:avLst/>
          </a:prstGeom>
          <a:solidFill>
            <a:srgbClr val="163764"/>
          </a:solidFill>
          <a:ln cap="flat" cmpd="sng" w="1270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8"/>
          <p:cNvSpPr/>
          <p:nvPr/>
        </p:nvSpPr>
        <p:spPr>
          <a:xfrm>
            <a:off x="5788152" y="2834640"/>
            <a:ext cx="2414016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LinkedList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8"/>
          <p:cNvSpPr/>
          <p:nvPr/>
        </p:nvSpPr>
        <p:spPr>
          <a:xfrm>
            <a:off x="868680" y="3273552"/>
            <a:ext cx="2286000" cy="43891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8"/>
          <p:cNvSpPr/>
          <p:nvPr/>
        </p:nvSpPr>
        <p:spPr>
          <a:xfrm>
            <a:off x="941832" y="3273552"/>
            <a:ext cx="2139696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Ortadan Eleman Silme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8"/>
          <p:cNvSpPr/>
          <p:nvPr/>
        </p:nvSpPr>
        <p:spPr>
          <a:xfrm>
            <a:off x="3154680" y="3273552"/>
            <a:ext cx="2560320" cy="43891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8"/>
          <p:cNvSpPr/>
          <p:nvPr/>
        </p:nvSpPr>
        <p:spPr>
          <a:xfrm>
            <a:off x="3227832" y="3273552"/>
            <a:ext cx="2414016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O(n) — kaydırma gerekir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8"/>
          <p:cNvSpPr/>
          <p:nvPr/>
        </p:nvSpPr>
        <p:spPr>
          <a:xfrm>
            <a:off x="5715000" y="3273552"/>
            <a:ext cx="2560320" cy="43891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8"/>
          <p:cNvSpPr/>
          <p:nvPr/>
        </p:nvSpPr>
        <p:spPr>
          <a:xfrm>
            <a:off x="5788152" y="3273552"/>
            <a:ext cx="2414016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O(1) — referans değiştir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8"/>
          <p:cNvSpPr/>
          <p:nvPr/>
        </p:nvSpPr>
        <p:spPr>
          <a:xfrm>
            <a:off x="868680" y="3712464"/>
            <a:ext cx="2286000" cy="438912"/>
          </a:xfrm>
          <a:prstGeom prst="rect">
            <a:avLst/>
          </a:prstGeom>
          <a:solidFill>
            <a:srgbClr val="E8EEF4"/>
          </a:solidFill>
          <a:ln cap="flat" cmpd="sng" w="1270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8"/>
          <p:cNvSpPr/>
          <p:nvPr/>
        </p:nvSpPr>
        <p:spPr>
          <a:xfrm>
            <a:off x="941832" y="3712464"/>
            <a:ext cx="2139696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Sona Ekleme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8"/>
          <p:cNvSpPr/>
          <p:nvPr/>
        </p:nvSpPr>
        <p:spPr>
          <a:xfrm>
            <a:off x="3154680" y="3712464"/>
            <a:ext cx="2560320" cy="438912"/>
          </a:xfrm>
          <a:prstGeom prst="rect">
            <a:avLst/>
          </a:prstGeom>
          <a:solidFill>
            <a:srgbClr val="E8EEF4"/>
          </a:solidFill>
          <a:ln cap="flat" cmpd="sng" w="1270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8"/>
          <p:cNvSpPr/>
          <p:nvPr/>
        </p:nvSpPr>
        <p:spPr>
          <a:xfrm>
            <a:off x="3227832" y="3712464"/>
            <a:ext cx="2414016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O(1) amortize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8"/>
          <p:cNvSpPr/>
          <p:nvPr/>
        </p:nvSpPr>
        <p:spPr>
          <a:xfrm>
            <a:off x="5715000" y="3712464"/>
            <a:ext cx="2560320" cy="438912"/>
          </a:xfrm>
          <a:prstGeom prst="rect">
            <a:avLst/>
          </a:prstGeom>
          <a:solidFill>
            <a:srgbClr val="E8EEF4"/>
          </a:solidFill>
          <a:ln cap="flat" cmpd="sng" w="1270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8"/>
          <p:cNvSpPr/>
          <p:nvPr/>
        </p:nvSpPr>
        <p:spPr>
          <a:xfrm>
            <a:off x="5788152" y="3712464"/>
            <a:ext cx="2414016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O(1) her zaman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8"/>
          <p:cNvSpPr/>
          <p:nvPr/>
        </p:nvSpPr>
        <p:spPr>
          <a:xfrm>
            <a:off x="868680" y="4151376"/>
            <a:ext cx="2286000" cy="43891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8"/>
          <p:cNvSpPr/>
          <p:nvPr/>
        </p:nvSpPr>
        <p:spPr>
          <a:xfrm>
            <a:off x="941832" y="4151376"/>
            <a:ext cx="2139696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FIFO Uyumu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8"/>
          <p:cNvSpPr/>
          <p:nvPr/>
        </p:nvSpPr>
        <p:spPr>
          <a:xfrm>
            <a:off x="3154680" y="4151376"/>
            <a:ext cx="2560320" cy="43891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8"/>
          <p:cNvSpPr/>
          <p:nvPr/>
        </p:nvSpPr>
        <p:spPr>
          <a:xfrm>
            <a:off x="3227832" y="4151376"/>
            <a:ext cx="2414016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❌ Zayıf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8"/>
          <p:cNvSpPr/>
          <p:nvPr/>
        </p:nvSpPr>
        <p:spPr>
          <a:xfrm>
            <a:off x="5715000" y="4151376"/>
            <a:ext cx="2560320" cy="43891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8"/>
          <p:cNvSpPr/>
          <p:nvPr/>
        </p:nvSpPr>
        <p:spPr>
          <a:xfrm>
            <a:off x="5788152" y="4151376"/>
            <a:ext cx="2414016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8449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E8449"/>
                </a:solidFill>
                <a:latin typeface="Calibri"/>
                <a:ea typeface="Calibri"/>
                <a:cs typeface="Calibri"/>
                <a:sym typeface="Calibri"/>
              </a:rPr>
              <a:t>✅ Ideal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9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3764"/>
          </a:solidFill>
          <a:ln cap="flat" cmpd="sng" w="12700">
            <a:solidFill>
              <a:srgbClr val="1637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0" y="685800"/>
            <a:ext cx="9144000" cy="36576"/>
          </a:xfrm>
          <a:prstGeom prst="rect">
            <a:avLst/>
          </a:prstGeom>
          <a:solidFill>
            <a:srgbClr val="1ABC9C"/>
          </a:solidFill>
          <a:ln cap="flat" cmpd="sng" w="12700">
            <a:solidFill>
              <a:srgbClr val="1ABC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9"/>
          <p:cNvSpPr/>
          <p:nvPr/>
        </p:nvSpPr>
        <p:spPr>
          <a:xfrm>
            <a:off x="320040" y="0"/>
            <a:ext cx="7772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8. Geçmiş Arşivi: Binary Search Tree (BST)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9"/>
          <p:cNvSpPr/>
          <p:nvPr/>
        </p:nvSpPr>
        <p:spPr>
          <a:xfrm>
            <a:off x="8046720" y="0"/>
            <a:ext cx="914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ED6F1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AED6F1"/>
                </a:solidFill>
                <a:latin typeface="Calibri"/>
                <a:ea typeface="Calibri"/>
                <a:cs typeface="Calibri"/>
                <a:sym typeface="Calibri"/>
              </a:rPr>
              <a:t>9/15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9"/>
          <p:cNvSpPr/>
          <p:nvPr/>
        </p:nvSpPr>
        <p:spPr>
          <a:xfrm>
            <a:off x="365760" y="804672"/>
            <a:ext cx="4754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Tamamlanan ve iptal edilen rezervasyonlar Geçmiş sekmesine aktarılır.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9"/>
          <p:cNvSpPr/>
          <p:nvPr/>
        </p:nvSpPr>
        <p:spPr>
          <a:xfrm>
            <a:off x="365760" y="1261872"/>
            <a:ext cx="4572000" cy="2926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Sıfırdan yazılmış — Java'nın TreeMap/TreeSet'i kullanılmadı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C2833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Her Node: Reservation verisi + sol &amp; sağ çocuk referansı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C2833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Kural: yeni.tarih &lt; mevcut.tarih → SOLA, ≥ → SAĞA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C2833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In-Order (Sol→Kök→Sağ) gezinme her zaman tarihe göre sıralı liste üretir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C2833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history.insert() → O(log n) ortalama yerleştirme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C2833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history.inorder() → O(n) sıralı listeleme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5120640" y="804672"/>
            <a:ext cx="3657600" cy="3749040"/>
          </a:xfrm>
          <a:prstGeom prst="rect">
            <a:avLst/>
          </a:prstGeom>
          <a:solidFill>
            <a:srgbClr val="F4F8FB"/>
          </a:solidFill>
          <a:ln cap="flat" cmpd="sng" w="12700">
            <a:solidFill>
              <a:srgbClr val="E8EE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9"/>
          <p:cNvSpPr/>
          <p:nvPr/>
        </p:nvSpPr>
        <p:spPr>
          <a:xfrm>
            <a:off x="5212080" y="896112"/>
            <a:ext cx="34747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3764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63764"/>
                </a:solidFill>
                <a:latin typeface="Calibri"/>
                <a:ea typeface="Calibri"/>
                <a:cs typeface="Calibri"/>
                <a:sym typeface="Calibri"/>
              </a:rPr>
              <a:t>BST Yapısı (Giriş Tarihine Göre)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9"/>
          <p:cNvSpPr/>
          <p:nvPr/>
        </p:nvSpPr>
        <p:spPr>
          <a:xfrm>
            <a:off x="6080760" y="1325880"/>
            <a:ext cx="1234440" cy="530352"/>
          </a:xfrm>
          <a:prstGeom prst="roundRect">
            <a:avLst>
              <a:gd fmla="val 13793" name="adj"/>
            </a:avLst>
          </a:prstGeom>
          <a:solidFill>
            <a:srgbClr val="163764"/>
          </a:solidFill>
          <a:ln cap="flat" cmpd="sng" w="12700">
            <a:solidFill>
              <a:srgbClr val="1637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9"/>
          <p:cNvSpPr/>
          <p:nvPr/>
        </p:nvSpPr>
        <p:spPr>
          <a:xfrm>
            <a:off x="6080760" y="1325880"/>
            <a:ext cx="12344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RES002</a:t>
            </a:r>
            <a:b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10 Nis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9"/>
          <p:cNvSpPr/>
          <p:nvPr/>
        </p:nvSpPr>
        <p:spPr>
          <a:xfrm>
            <a:off x="5257800" y="2194560"/>
            <a:ext cx="1234440" cy="530352"/>
          </a:xfrm>
          <a:prstGeom prst="roundRect">
            <a:avLst>
              <a:gd fmla="val 13793" name="adj"/>
            </a:avLst>
          </a:prstGeom>
          <a:solidFill>
            <a:srgbClr val="2471A3"/>
          </a:solidFill>
          <a:ln cap="flat" cmpd="sng" w="12700">
            <a:solidFill>
              <a:srgbClr val="1637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9"/>
          <p:cNvSpPr/>
          <p:nvPr/>
        </p:nvSpPr>
        <p:spPr>
          <a:xfrm>
            <a:off x="5257800" y="2194560"/>
            <a:ext cx="12344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RES001</a:t>
            </a:r>
            <a:b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 May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9"/>
          <p:cNvSpPr/>
          <p:nvPr/>
        </p:nvSpPr>
        <p:spPr>
          <a:xfrm>
            <a:off x="6903720" y="2194560"/>
            <a:ext cx="1234440" cy="530352"/>
          </a:xfrm>
          <a:prstGeom prst="roundRect">
            <a:avLst>
              <a:gd fmla="val 13793" name="adj"/>
            </a:avLst>
          </a:prstGeom>
          <a:solidFill>
            <a:srgbClr val="2471A3"/>
          </a:solidFill>
          <a:ln cap="flat" cmpd="sng" w="12700">
            <a:solidFill>
              <a:srgbClr val="1637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9"/>
          <p:cNvSpPr/>
          <p:nvPr/>
        </p:nvSpPr>
        <p:spPr>
          <a:xfrm>
            <a:off x="6903720" y="2194560"/>
            <a:ext cx="12344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RES003</a:t>
            </a:r>
            <a:b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20 May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9"/>
          <p:cNvSpPr/>
          <p:nvPr/>
        </p:nvSpPr>
        <p:spPr>
          <a:xfrm>
            <a:off x="5257800" y="3063240"/>
            <a:ext cx="1234440" cy="530352"/>
          </a:xfrm>
          <a:prstGeom prst="roundRect">
            <a:avLst>
              <a:gd fmla="val 13793" name="adj"/>
            </a:avLst>
          </a:prstGeom>
          <a:solidFill>
            <a:srgbClr val="D35400"/>
          </a:solidFill>
          <a:ln cap="flat" cmpd="sng" w="12700">
            <a:solidFill>
              <a:srgbClr val="1637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9"/>
          <p:cNvSpPr/>
          <p:nvPr/>
        </p:nvSpPr>
        <p:spPr>
          <a:xfrm>
            <a:off x="5257800" y="3063240"/>
            <a:ext cx="12344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RES004</a:t>
            </a:r>
            <a:b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15 Nis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42" name="Google Shape;242;p9"/>
          <p:cNvCxnSpPr/>
          <p:nvPr/>
        </p:nvCxnSpPr>
        <p:spPr>
          <a:xfrm flipH="1">
            <a:off x="5879592" y="1856232"/>
            <a:ext cx="521208" cy="338328"/>
          </a:xfrm>
          <a:prstGeom prst="straightConnector1">
            <a:avLst/>
          </a:prstGeom>
          <a:noFill/>
          <a:ln cap="flat" cmpd="sng" w="19050">
            <a:solidFill>
              <a:srgbClr val="7F8C8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43" name="Google Shape;243;p9"/>
          <p:cNvCxnSpPr/>
          <p:nvPr/>
        </p:nvCxnSpPr>
        <p:spPr>
          <a:xfrm>
            <a:off x="7013448" y="1856232"/>
            <a:ext cx="228600" cy="338328"/>
          </a:xfrm>
          <a:prstGeom prst="straightConnector1">
            <a:avLst/>
          </a:prstGeom>
          <a:noFill/>
          <a:ln cap="flat" cmpd="sng" w="19050">
            <a:solidFill>
              <a:srgbClr val="7F8C8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44" name="Google Shape;244;p9"/>
          <p:cNvCxnSpPr/>
          <p:nvPr/>
        </p:nvCxnSpPr>
        <p:spPr>
          <a:xfrm>
            <a:off x="5879592" y="2724912"/>
            <a:ext cx="0" cy="338328"/>
          </a:xfrm>
          <a:prstGeom prst="straightConnector1">
            <a:avLst/>
          </a:prstGeom>
          <a:noFill/>
          <a:ln cap="flat" cmpd="sng" w="19050">
            <a:solidFill>
              <a:srgbClr val="7F8C8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5" name="Google Shape;245;p9"/>
          <p:cNvSpPr/>
          <p:nvPr/>
        </p:nvSpPr>
        <p:spPr>
          <a:xfrm>
            <a:off x="5166360" y="4069080"/>
            <a:ext cx="3520440" cy="365760"/>
          </a:xfrm>
          <a:prstGeom prst="rect">
            <a:avLst/>
          </a:prstGeom>
          <a:solidFill>
            <a:srgbClr val="1ABC9C"/>
          </a:solidFill>
          <a:ln cap="flat" cmpd="sng" w="12700">
            <a:solidFill>
              <a:srgbClr val="1ABC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5166360" y="4069080"/>
            <a:ext cx="35204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In-Order: 15 Nis → 10 Nis → 01 May → 20 May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9"/>
          <p:cNvSpPr/>
          <p:nvPr/>
        </p:nvSpPr>
        <p:spPr>
          <a:xfrm>
            <a:off x="365760" y="4206240"/>
            <a:ext cx="4572000" cy="749808"/>
          </a:xfrm>
          <a:prstGeom prst="rect">
            <a:avLst/>
          </a:prstGeom>
          <a:solidFill>
            <a:srgbClr val="F4F8FB"/>
          </a:solidFill>
          <a:ln cap="flat" cmpd="sng" w="12700">
            <a:solidFill>
              <a:srgbClr val="E8EE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9"/>
          <p:cNvSpPr/>
          <p:nvPr/>
        </p:nvSpPr>
        <p:spPr>
          <a:xfrm>
            <a:off x="365760" y="4206240"/>
            <a:ext cx="54864" cy="749808"/>
          </a:xfrm>
          <a:prstGeom prst="rect">
            <a:avLst/>
          </a:prstGeom>
          <a:solidFill>
            <a:srgbClr val="1E8449"/>
          </a:solidFill>
          <a:ln cap="flat" cmpd="sng" w="12700">
            <a:solidFill>
              <a:srgbClr val="1E844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9"/>
          <p:cNvSpPr/>
          <p:nvPr/>
        </p:nvSpPr>
        <p:spPr>
          <a:xfrm>
            <a:off x="640080" y="4279392"/>
            <a:ext cx="41148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8449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8449"/>
                </a:solidFill>
                <a:latin typeface="Calibri"/>
                <a:ea typeface="Calibri"/>
                <a:cs typeface="Calibri"/>
                <a:sym typeface="Calibri"/>
              </a:rPr>
              <a:t>insert(): O(log n)  </a:t>
            </a:r>
            <a:r>
              <a:rPr b="0" i="0" lang="en-US" sz="1200" u="none" cap="none" strike="noStrike">
                <a:solidFill>
                  <a:srgbClr val="7F8C8D"/>
                </a:solidFill>
                <a:latin typeface="Calibri"/>
                <a:ea typeface="Calibri"/>
                <a:cs typeface="Calibri"/>
                <a:sym typeface="Calibri"/>
              </a:rPr>
              <a:t>ortalama  |  </a:t>
            </a:r>
            <a:r>
              <a:rPr b="1" i="0" lang="en-US" sz="12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O(n)  </a:t>
            </a:r>
            <a:r>
              <a:rPr b="0" i="0" lang="en-US" sz="1200" u="none" cap="none" strike="noStrike">
                <a:solidFill>
                  <a:srgbClr val="7F8C8D"/>
                </a:solidFill>
                <a:latin typeface="Calibri"/>
                <a:ea typeface="Calibri"/>
                <a:cs typeface="Calibri"/>
                <a:sym typeface="Calibri"/>
              </a:rPr>
              <a:t>en kötü</a:t>
            </a:r>
            <a:br>
              <a:rPr b="0" i="0" lang="en-US" sz="1200" u="none" cap="none" strike="noStrike">
                <a:solidFill>
                  <a:srgbClr val="7F8C8D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71A3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2471A3"/>
                </a:solidFill>
                <a:latin typeface="Calibri"/>
                <a:ea typeface="Calibri"/>
                <a:cs typeface="Calibri"/>
                <a:sym typeface="Calibri"/>
              </a:rPr>
              <a:t>inorder(): O(n)  </a:t>
            </a:r>
            <a:r>
              <a:rPr b="0" i="0" lang="en-US" sz="1200" u="none" cap="none" strike="noStrike">
                <a:solidFill>
                  <a:srgbClr val="7F8C8D"/>
                </a:solidFill>
                <a:latin typeface="Calibri"/>
                <a:ea typeface="Calibri"/>
                <a:cs typeface="Calibri"/>
                <a:sym typeface="Calibri"/>
              </a:rPr>
              <a:t>— her düğüm 1 kez ziyaret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3764"/>
          </a:solidFill>
          <a:ln cap="flat" cmpd="sng" w="12700">
            <a:solidFill>
              <a:srgbClr val="1637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10"/>
          <p:cNvSpPr/>
          <p:nvPr/>
        </p:nvSpPr>
        <p:spPr>
          <a:xfrm>
            <a:off x="0" y="685800"/>
            <a:ext cx="9144000" cy="36576"/>
          </a:xfrm>
          <a:prstGeom prst="rect">
            <a:avLst/>
          </a:prstGeom>
          <a:solidFill>
            <a:srgbClr val="1ABC9C"/>
          </a:solidFill>
          <a:ln cap="flat" cmpd="sng" w="12700">
            <a:solidFill>
              <a:srgbClr val="1ABC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10"/>
          <p:cNvSpPr/>
          <p:nvPr/>
        </p:nvSpPr>
        <p:spPr>
          <a:xfrm>
            <a:off x="320040" y="0"/>
            <a:ext cx="7772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9. Rezervasyon Akış Diyagramı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0"/>
          <p:cNvSpPr/>
          <p:nvPr/>
        </p:nvSpPr>
        <p:spPr>
          <a:xfrm>
            <a:off x="8046720" y="0"/>
            <a:ext cx="914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ED6F1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AED6F1"/>
                </a:solidFill>
                <a:latin typeface="Calibri"/>
                <a:ea typeface="Calibri"/>
                <a:cs typeface="Calibri"/>
                <a:sym typeface="Calibri"/>
              </a:rPr>
              <a:t>10/15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10"/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Yeni rezervasyon yapıldığında sistemin işlem adımları: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0"/>
          <p:cNvSpPr/>
          <p:nvPr/>
        </p:nvSpPr>
        <p:spPr>
          <a:xfrm>
            <a:off x="365760" y="1188720"/>
            <a:ext cx="1508760" cy="868680"/>
          </a:xfrm>
          <a:prstGeom prst="roundRect">
            <a:avLst>
              <a:gd fmla="val 10526" name="adj"/>
            </a:avLst>
          </a:prstGeom>
          <a:solidFill>
            <a:srgbClr val="163764"/>
          </a:solidFill>
          <a:ln cap="flat" cmpd="sng" w="12700">
            <a:solidFill>
              <a:srgbClr val="1637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10"/>
          <p:cNvSpPr/>
          <p:nvPr/>
        </p:nvSpPr>
        <p:spPr>
          <a:xfrm>
            <a:off x="365760" y="1188720"/>
            <a:ext cx="15087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Kullanıcı Formu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Doldurur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62" name="Google Shape;262;p10"/>
          <p:cNvCxnSpPr/>
          <p:nvPr/>
        </p:nvCxnSpPr>
        <p:spPr>
          <a:xfrm>
            <a:off x="1874520" y="1623060"/>
            <a:ext cx="182880" cy="0"/>
          </a:xfrm>
          <a:prstGeom prst="straightConnector1">
            <a:avLst/>
          </a:prstGeom>
          <a:noFill/>
          <a:ln cap="flat" cmpd="sng" w="19050">
            <a:solidFill>
              <a:srgbClr val="7F8C8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3" name="Google Shape;263;p10"/>
          <p:cNvSpPr/>
          <p:nvPr/>
        </p:nvSpPr>
        <p:spPr>
          <a:xfrm>
            <a:off x="1892808" y="1463040"/>
            <a:ext cx="137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F8C8D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7F8C8D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0"/>
          <p:cNvSpPr/>
          <p:nvPr/>
        </p:nvSpPr>
        <p:spPr>
          <a:xfrm>
            <a:off x="2057400" y="1188720"/>
            <a:ext cx="1508760" cy="868680"/>
          </a:xfrm>
          <a:prstGeom prst="roundRect">
            <a:avLst>
              <a:gd fmla="val 10526" name="adj"/>
            </a:avLst>
          </a:prstGeom>
          <a:solidFill>
            <a:srgbClr val="2471A3"/>
          </a:solidFill>
          <a:ln cap="flat" cmpd="sng" w="12700">
            <a:solidFill>
              <a:srgbClr val="2471A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10"/>
          <p:cNvSpPr/>
          <p:nvPr/>
        </p:nvSpPr>
        <p:spPr>
          <a:xfrm>
            <a:off x="2057400" y="1188720"/>
            <a:ext cx="15087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Tarih &amp; Alan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Validasyonu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66" name="Google Shape;266;p10"/>
          <p:cNvCxnSpPr/>
          <p:nvPr/>
        </p:nvCxnSpPr>
        <p:spPr>
          <a:xfrm>
            <a:off x="3566160" y="1623060"/>
            <a:ext cx="182880" cy="0"/>
          </a:xfrm>
          <a:prstGeom prst="straightConnector1">
            <a:avLst/>
          </a:prstGeom>
          <a:noFill/>
          <a:ln cap="flat" cmpd="sng" w="19050">
            <a:solidFill>
              <a:srgbClr val="7F8C8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7" name="Google Shape;267;p10"/>
          <p:cNvSpPr/>
          <p:nvPr/>
        </p:nvSpPr>
        <p:spPr>
          <a:xfrm>
            <a:off x="3584448" y="1463040"/>
            <a:ext cx="137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F8C8D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7F8C8D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0"/>
          <p:cNvSpPr/>
          <p:nvPr/>
        </p:nvSpPr>
        <p:spPr>
          <a:xfrm rot="2700000">
            <a:off x="3749040" y="1188720"/>
            <a:ext cx="1417320" cy="868680"/>
          </a:xfrm>
          <a:prstGeom prst="rect">
            <a:avLst/>
          </a:prstGeom>
          <a:solidFill>
            <a:srgbClr val="D35400"/>
          </a:solidFill>
          <a:ln cap="flat" cmpd="sng" w="12700">
            <a:solidFill>
              <a:srgbClr val="D354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10"/>
          <p:cNvSpPr/>
          <p:nvPr/>
        </p:nvSpPr>
        <p:spPr>
          <a:xfrm>
            <a:off x="3749040" y="1188720"/>
            <a:ext cx="141732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Oda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Bulunur?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70" name="Google Shape;270;p10"/>
          <p:cNvCxnSpPr/>
          <p:nvPr/>
        </p:nvCxnSpPr>
        <p:spPr>
          <a:xfrm>
            <a:off x="5166360" y="1623060"/>
            <a:ext cx="274320" cy="0"/>
          </a:xfrm>
          <a:prstGeom prst="straightConnector1">
            <a:avLst/>
          </a:prstGeom>
          <a:noFill/>
          <a:ln cap="flat" cmpd="sng" w="19050">
            <a:solidFill>
              <a:srgbClr val="7F8C8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1" name="Google Shape;271;p10"/>
          <p:cNvSpPr/>
          <p:nvPr/>
        </p:nvSpPr>
        <p:spPr>
          <a:xfrm>
            <a:off x="5184648" y="1463040"/>
            <a:ext cx="228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F8C8D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7F8C8D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0"/>
          <p:cNvSpPr/>
          <p:nvPr/>
        </p:nvSpPr>
        <p:spPr>
          <a:xfrm>
            <a:off x="5440680" y="1188720"/>
            <a:ext cx="1508760" cy="868680"/>
          </a:xfrm>
          <a:prstGeom prst="roundRect">
            <a:avLst>
              <a:gd fmla="val 10526" name="adj"/>
            </a:avLst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10"/>
          <p:cNvSpPr/>
          <p:nvPr/>
        </p:nvSpPr>
        <p:spPr>
          <a:xfrm>
            <a:off x="5440680" y="1188720"/>
            <a:ext cx="15087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Interval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Overlap Check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74" name="Google Shape;274;p10"/>
          <p:cNvCxnSpPr/>
          <p:nvPr/>
        </p:nvCxnSpPr>
        <p:spPr>
          <a:xfrm>
            <a:off x="6949440" y="1623060"/>
            <a:ext cx="182880" cy="0"/>
          </a:xfrm>
          <a:prstGeom prst="straightConnector1">
            <a:avLst/>
          </a:prstGeom>
          <a:noFill/>
          <a:ln cap="flat" cmpd="sng" w="19050">
            <a:solidFill>
              <a:srgbClr val="7F8C8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5" name="Google Shape;275;p10"/>
          <p:cNvSpPr/>
          <p:nvPr/>
        </p:nvSpPr>
        <p:spPr>
          <a:xfrm>
            <a:off x="6967728" y="1463040"/>
            <a:ext cx="137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F8C8D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7F8C8D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0"/>
          <p:cNvSpPr/>
          <p:nvPr/>
        </p:nvSpPr>
        <p:spPr>
          <a:xfrm rot="2700000">
            <a:off x="7132320" y="1188720"/>
            <a:ext cx="1417320" cy="868680"/>
          </a:xfrm>
          <a:prstGeom prst="rect">
            <a:avLst/>
          </a:prstGeom>
          <a:solidFill>
            <a:srgbClr val="D35400"/>
          </a:solidFill>
          <a:ln cap="flat" cmpd="sng" w="12700">
            <a:solidFill>
              <a:srgbClr val="D354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10"/>
          <p:cNvSpPr/>
          <p:nvPr/>
        </p:nvSpPr>
        <p:spPr>
          <a:xfrm>
            <a:off x="7132320" y="1188720"/>
            <a:ext cx="141732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Çakışma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Var mı?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78" name="Google Shape;278;p10"/>
          <p:cNvCxnSpPr/>
          <p:nvPr/>
        </p:nvCxnSpPr>
        <p:spPr>
          <a:xfrm>
            <a:off x="7818120" y="1623060"/>
            <a:ext cx="0" cy="914400"/>
          </a:xfrm>
          <a:prstGeom prst="straightConnector1">
            <a:avLst/>
          </a:prstGeom>
          <a:noFill/>
          <a:ln cap="flat" cmpd="sng" w="254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9" name="Google Shape;279;p10"/>
          <p:cNvSpPr/>
          <p:nvPr/>
        </p:nvSpPr>
        <p:spPr>
          <a:xfrm>
            <a:off x="7589520" y="233172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EVET →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0"/>
          <p:cNvSpPr/>
          <p:nvPr/>
        </p:nvSpPr>
        <p:spPr>
          <a:xfrm>
            <a:off x="6858000" y="2651760"/>
            <a:ext cx="1920240" cy="548640"/>
          </a:xfrm>
          <a:prstGeom prst="roundRect">
            <a:avLst>
              <a:gd fmla="val 13333" name="adj"/>
            </a:avLst>
          </a:prstGeom>
          <a:solidFill>
            <a:srgbClr val="D35400"/>
          </a:solidFill>
          <a:ln cap="flat" cmpd="sng" w="12700">
            <a:solidFill>
              <a:srgbClr val="D354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p10"/>
          <p:cNvSpPr/>
          <p:nvPr/>
        </p:nvSpPr>
        <p:spPr>
          <a:xfrm>
            <a:off x="6858000" y="2651760"/>
            <a:ext cx="19202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Bekleme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Listesine Ekle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82" name="Google Shape;282;p10"/>
          <p:cNvCxnSpPr/>
          <p:nvPr/>
        </p:nvCxnSpPr>
        <p:spPr>
          <a:xfrm flipH="1">
            <a:off x="5760720" y="1623060"/>
            <a:ext cx="1371600" cy="1371600"/>
          </a:xfrm>
          <a:prstGeom prst="straightConnector1">
            <a:avLst/>
          </a:prstGeom>
          <a:noFill/>
          <a:ln cap="flat" cmpd="sng" w="25400">
            <a:solidFill>
              <a:srgbClr val="1E844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3" name="Google Shape;283;p10"/>
          <p:cNvSpPr/>
          <p:nvPr/>
        </p:nvSpPr>
        <p:spPr>
          <a:xfrm>
            <a:off x="5029200" y="2880360"/>
            <a:ext cx="1920240" cy="548640"/>
          </a:xfrm>
          <a:prstGeom prst="roundRect">
            <a:avLst>
              <a:gd fmla="val 13333" name="adj"/>
            </a:avLst>
          </a:prstGeom>
          <a:solidFill>
            <a:srgbClr val="1E8449"/>
          </a:solidFill>
          <a:ln cap="flat" cmpd="sng" w="12700">
            <a:solidFill>
              <a:srgbClr val="1E844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p10"/>
          <p:cNvSpPr/>
          <p:nvPr/>
        </p:nvSpPr>
        <p:spPr>
          <a:xfrm>
            <a:off x="5029200" y="2880360"/>
            <a:ext cx="19202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Rezervasyon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Onaylandı!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0"/>
          <p:cNvSpPr/>
          <p:nvPr/>
        </p:nvSpPr>
        <p:spPr>
          <a:xfrm>
            <a:off x="365760" y="3611880"/>
            <a:ext cx="8412480" cy="1280160"/>
          </a:xfrm>
          <a:prstGeom prst="rect">
            <a:avLst/>
          </a:prstGeom>
          <a:solidFill>
            <a:srgbClr val="F4F8FB"/>
          </a:solidFill>
          <a:ln cap="flat" cmpd="sng" w="12700">
            <a:solidFill>
              <a:srgbClr val="E8EE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p10"/>
          <p:cNvSpPr/>
          <p:nvPr/>
        </p:nvSpPr>
        <p:spPr>
          <a:xfrm>
            <a:off x="365760" y="3611880"/>
            <a:ext cx="54864" cy="1280160"/>
          </a:xfrm>
          <a:prstGeom prst="rect">
            <a:avLst/>
          </a:prstGeom>
          <a:solidFill>
            <a:srgbClr val="1ABC9C"/>
          </a:solidFill>
          <a:ln cap="flat" cmpd="sng" w="12700">
            <a:solidFill>
              <a:srgbClr val="1ABC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10"/>
          <p:cNvSpPr/>
          <p:nvPr/>
        </p:nvSpPr>
        <p:spPr>
          <a:xfrm>
            <a:off x="640080" y="3730752"/>
            <a:ext cx="7863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764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63764"/>
                </a:solidFill>
                <a:latin typeface="Calibri"/>
                <a:ea typeface="Calibri"/>
                <a:cs typeface="Calibri"/>
                <a:sym typeface="Calibri"/>
              </a:rPr>
              <a:t>Checkout / İptal Sonrası: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0"/>
          <p:cNvSpPr/>
          <p:nvPr/>
        </p:nvSpPr>
        <p:spPr>
          <a:xfrm>
            <a:off x="640080" y="4096512"/>
            <a:ext cx="78638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1. Oda serbest bırakılır (room.release())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2. Rezervasyon → BST'ye eklenir (history.insert())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3. Bekleme listesi taranır: uygun ilk giriş otomatik aktifleştirilir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1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3764"/>
          </a:solidFill>
          <a:ln cap="flat" cmpd="sng" w="12700">
            <a:solidFill>
              <a:srgbClr val="1637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11"/>
          <p:cNvSpPr/>
          <p:nvPr/>
        </p:nvSpPr>
        <p:spPr>
          <a:xfrm>
            <a:off x="0" y="685800"/>
            <a:ext cx="9144000" cy="36576"/>
          </a:xfrm>
          <a:prstGeom prst="rect">
            <a:avLst/>
          </a:prstGeom>
          <a:solidFill>
            <a:srgbClr val="1ABC9C"/>
          </a:solidFill>
          <a:ln cap="flat" cmpd="sng" w="12700">
            <a:solidFill>
              <a:srgbClr val="1ABC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11"/>
          <p:cNvSpPr/>
          <p:nvPr/>
        </p:nvSpPr>
        <p:spPr>
          <a:xfrm>
            <a:off x="320040" y="0"/>
            <a:ext cx="7772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10. Genel Zaman Karmaşıklığı Tablosu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1"/>
          <p:cNvSpPr/>
          <p:nvPr/>
        </p:nvSpPr>
        <p:spPr>
          <a:xfrm>
            <a:off x="8046720" y="0"/>
            <a:ext cx="914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ED6F1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AED6F1"/>
                </a:solidFill>
                <a:latin typeface="Calibri"/>
                <a:ea typeface="Calibri"/>
                <a:cs typeface="Calibri"/>
                <a:sym typeface="Calibri"/>
              </a:rPr>
              <a:t>11/15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1"/>
          <p:cNvSpPr/>
          <p:nvPr/>
        </p:nvSpPr>
        <p:spPr>
          <a:xfrm>
            <a:off x="365760" y="804672"/>
            <a:ext cx="84124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Sistemdeki her kritik işlem için kullanılan veri yapısı ve Big-O karmaşıklığı: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1"/>
          <p:cNvSpPr/>
          <p:nvPr/>
        </p:nvSpPr>
        <p:spPr>
          <a:xfrm>
            <a:off x="365760" y="1234440"/>
            <a:ext cx="3108960" cy="438912"/>
          </a:xfrm>
          <a:prstGeom prst="rect">
            <a:avLst/>
          </a:prstGeom>
          <a:solidFill>
            <a:srgbClr val="163764"/>
          </a:solidFill>
          <a:ln cap="flat" cmpd="sng" w="12700">
            <a:solidFill>
              <a:srgbClr val="0D21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11"/>
          <p:cNvSpPr/>
          <p:nvPr/>
        </p:nvSpPr>
        <p:spPr>
          <a:xfrm>
            <a:off x="438912" y="1234440"/>
            <a:ext cx="2962656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Sistem İşlemi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11"/>
          <p:cNvSpPr/>
          <p:nvPr/>
        </p:nvSpPr>
        <p:spPr>
          <a:xfrm>
            <a:off x="3474720" y="1234440"/>
            <a:ext cx="2286000" cy="438912"/>
          </a:xfrm>
          <a:prstGeom prst="rect">
            <a:avLst/>
          </a:prstGeom>
          <a:solidFill>
            <a:srgbClr val="163764"/>
          </a:solidFill>
          <a:ln cap="flat" cmpd="sng" w="12700">
            <a:solidFill>
              <a:srgbClr val="0D21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11"/>
          <p:cNvSpPr/>
          <p:nvPr/>
        </p:nvSpPr>
        <p:spPr>
          <a:xfrm>
            <a:off x="3547872" y="1234440"/>
            <a:ext cx="2139696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Kullanılan Veri Yapısı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1"/>
          <p:cNvSpPr/>
          <p:nvPr/>
        </p:nvSpPr>
        <p:spPr>
          <a:xfrm>
            <a:off x="5760720" y="1234440"/>
            <a:ext cx="1417320" cy="438912"/>
          </a:xfrm>
          <a:prstGeom prst="rect">
            <a:avLst/>
          </a:prstGeom>
          <a:solidFill>
            <a:srgbClr val="163764"/>
          </a:solidFill>
          <a:ln cap="flat" cmpd="sng" w="12700">
            <a:solidFill>
              <a:srgbClr val="0D21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p11"/>
          <p:cNvSpPr/>
          <p:nvPr/>
        </p:nvSpPr>
        <p:spPr>
          <a:xfrm>
            <a:off x="5833872" y="1234440"/>
            <a:ext cx="1271016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Big-O (Ortalama)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1"/>
          <p:cNvSpPr/>
          <p:nvPr/>
        </p:nvSpPr>
        <p:spPr>
          <a:xfrm>
            <a:off x="7178040" y="1234440"/>
            <a:ext cx="1417320" cy="438912"/>
          </a:xfrm>
          <a:prstGeom prst="rect">
            <a:avLst/>
          </a:prstGeom>
          <a:solidFill>
            <a:srgbClr val="163764"/>
          </a:solidFill>
          <a:ln cap="flat" cmpd="sng" w="12700">
            <a:solidFill>
              <a:srgbClr val="0D21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p11"/>
          <p:cNvSpPr/>
          <p:nvPr/>
        </p:nvSpPr>
        <p:spPr>
          <a:xfrm>
            <a:off x="7251192" y="1234440"/>
            <a:ext cx="1271016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Big-O (En Kötü)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1"/>
          <p:cNvSpPr/>
          <p:nvPr/>
        </p:nvSpPr>
        <p:spPr>
          <a:xfrm>
            <a:off x="365760" y="1673352"/>
            <a:ext cx="3108960" cy="47548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11"/>
          <p:cNvSpPr/>
          <p:nvPr/>
        </p:nvSpPr>
        <p:spPr>
          <a:xfrm>
            <a:off x="457200" y="1673352"/>
            <a:ext cx="29260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Yeni Rezervasyon — Tarih Çakışma Kontrolü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1"/>
          <p:cNvSpPr/>
          <p:nvPr/>
        </p:nvSpPr>
        <p:spPr>
          <a:xfrm>
            <a:off x="3474720" y="1673352"/>
            <a:ext cx="2286000" cy="47548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11"/>
          <p:cNvSpPr/>
          <p:nvPr/>
        </p:nvSpPr>
        <p:spPr>
          <a:xfrm>
            <a:off x="3566160" y="1673352"/>
            <a:ext cx="21031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Interval Overlap (ArrayList)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1"/>
          <p:cNvSpPr/>
          <p:nvPr/>
        </p:nvSpPr>
        <p:spPr>
          <a:xfrm>
            <a:off x="5760720" y="1673352"/>
            <a:ext cx="1417320" cy="47548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11"/>
          <p:cNvSpPr/>
          <p:nvPr/>
        </p:nvSpPr>
        <p:spPr>
          <a:xfrm>
            <a:off x="5852160" y="1673352"/>
            <a:ext cx="12344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35400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D35400"/>
                </a:solidFill>
                <a:latin typeface="Calibri"/>
                <a:ea typeface="Calibri"/>
                <a:cs typeface="Calibri"/>
                <a:sym typeface="Calibri"/>
              </a:rPr>
              <a:t>O(n)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11"/>
          <p:cNvSpPr/>
          <p:nvPr/>
        </p:nvSpPr>
        <p:spPr>
          <a:xfrm>
            <a:off x="7178040" y="1673352"/>
            <a:ext cx="1417320" cy="47548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11"/>
          <p:cNvSpPr/>
          <p:nvPr/>
        </p:nvSpPr>
        <p:spPr>
          <a:xfrm>
            <a:off x="7269480" y="1673352"/>
            <a:ext cx="12344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35400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D35400"/>
                </a:solidFill>
                <a:latin typeface="Calibri"/>
                <a:ea typeface="Calibri"/>
                <a:cs typeface="Calibri"/>
                <a:sym typeface="Calibri"/>
              </a:rPr>
              <a:t>O(n)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1"/>
          <p:cNvSpPr/>
          <p:nvPr/>
        </p:nvSpPr>
        <p:spPr>
          <a:xfrm>
            <a:off x="365760" y="2148840"/>
            <a:ext cx="3108960" cy="475488"/>
          </a:xfrm>
          <a:prstGeom prst="rect">
            <a:avLst/>
          </a:prstGeom>
          <a:solidFill>
            <a:srgbClr val="F4F8FB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p11"/>
          <p:cNvSpPr/>
          <p:nvPr/>
        </p:nvSpPr>
        <p:spPr>
          <a:xfrm>
            <a:off x="457200" y="2148840"/>
            <a:ext cx="29260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Oda / Müşteri Kaydına Erişim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1"/>
          <p:cNvSpPr/>
          <p:nvPr/>
        </p:nvSpPr>
        <p:spPr>
          <a:xfrm>
            <a:off x="3474720" y="2148840"/>
            <a:ext cx="2286000" cy="475488"/>
          </a:xfrm>
          <a:prstGeom prst="rect">
            <a:avLst/>
          </a:prstGeom>
          <a:solidFill>
            <a:srgbClr val="F4F8FB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11"/>
          <p:cNvSpPr/>
          <p:nvPr/>
        </p:nvSpPr>
        <p:spPr>
          <a:xfrm>
            <a:off x="3566160" y="2148840"/>
            <a:ext cx="21031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HashMap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11"/>
          <p:cNvSpPr/>
          <p:nvPr/>
        </p:nvSpPr>
        <p:spPr>
          <a:xfrm>
            <a:off x="5760720" y="2148840"/>
            <a:ext cx="1417320" cy="475488"/>
          </a:xfrm>
          <a:prstGeom prst="rect">
            <a:avLst/>
          </a:prstGeom>
          <a:solidFill>
            <a:srgbClr val="F4F8FB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11"/>
          <p:cNvSpPr/>
          <p:nvPr/>
        </p:nvSpPr>
        <p:spPr>
          <a:xfrm>
            <a:off x="5852160" y="2148840"/>
            <a:ext cx="12344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8449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E8449"/>
                </a:solidFill>
                <a:latin typeface="Calibri"/>
                <a:ea typeface="Calibri"/>
                <a:cs typeface="Calibri"/>
                <a:sym typeface="Calibri"/>
              </a:rPr>
              <a:t>O(1)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11"/>
          <p:cNvSpPr/>
          <p:nvPr/>
        </p:nvSpPr>
        <p:spPr>
          <a:xfrm>
            <a:off x="7178040" y="2148840"/>
            <a:ext cx="1417320" cy="475488"/>
          </a:xfrm>
          <a:prstGeom prst="rect">
            <a:avLst/>
          </a:prstGeom>
          <a:solidFill>
            <a:srgbClr val="F4F8FB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11"/>
          <p:cNvSpPr/>
          <p:nvPr/>
        </p:nvSpPr>
        <p:spPr>
          <a:xfrm>
            <a:off x="7269480" y="2148840"/>
            <a:ext cx="12344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35400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D35400"/>
                </a:solidFill>
                <a:latin typeface="Calibri"/>
                <a:ea typeface="Calibri"/>
                <a:cs typeface="Calibri"/>
                <a:sym typeface="Calibri"/>
              </a:rPr>
              <a:t>O(n)*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11"/>
          <p:cNvSpPr/>
          <p:nvPr/>
        </p:nvSpPr>
        <p:spPr>
          <a:xfrm>
            <a:off x="365760" y="2624328"/>
            <a:ext cx="3108960" cy="47548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11"/>
          <p:cNvSpPr/>
          <p:nvPr/>
        </p:nvSpPr>
        <p:spPr>
          <a:xfrm>
            <a:off x="457200" y="2624328"/>
            <a:ext cx="29260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Bekleme Listesine Müşteri Ekleme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11"/>
          <p:cNvSpPr/>
          <p:nvPr/>
        </p:nvSpPr>
        <p:spPr>
          <a:xfrm>
            <a:off x="3474720" y="2624328"/>
            <a:ext cx="2286000" cy="47548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11"/>
          <p:cNvSpPr/>
          <p:nvPr/>
        </p:nvSpPr>
        <p:spPr>
          <a:xfrm>
            <a:off x="3566160" y="2624328"/>
            <a:ext cx="21031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LinkedList (FIFO)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11"/>
          <p:cNvSpPr/>
          <p:nvPr/>
        </p:nvSpPr>
        <p:spPr>
          <a:xfrm>
            <a:off x="5760720" y="2624328"/>
            <a:ext cx="1417320" cy="47548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p11"/>
          <p:cNvSpPr/>
          <p:nvPr/>
        </p:nvSpPr>
        <p:spPr>
          <a:xfrm>
            <a:off x="5852160" y="2624328"/>
            <a:ext cx="12344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8449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E8449"/>
                </a:solidFill>
                <a:latin typeface="Calibri"/>
                <a:ea typeface="Calibri"/>
                <a:cs typeface="Calibri"/>
                <a:sym typeface="Calibri"/>
              </a:rPr>
              <a:t>O(1)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1"/>
          <p:cNvSpPr/>
          <p:nvPr/>
        </p:nvSpPr>
        <p:spPr>
          <a:xfrm>
            <a:off x="7178040" y="2624328"/>
            <a:ext cx="1417320" cy="47548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11"/>
          <p:cNvSpPr/>
          <p:nvPr/>
        </p:nvSpPr>
        <p:spPr>
          <a:xfrm>
            <a:off x="7269480" y="2624328"/>
            <a:ext cx="12344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8449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E8449"/>
                </a:solidFill>
                <a:latin typeface="Calibri"/>
                <a:ea typeface="Calibri"/>
                <a:cs typeface="Calibri"/>
                <a:sym typeface="Calibri"/>
              </a:rPr>
              <a:t>O(1)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1"/>
          <p:cNvSpPr/>
          <p:nvPr/>
        </p:nvSpPr>
        <p:spPr>
          <a:xfrm>
            <a:off x="365760" y="3099816"/>
            <a:ext cx="3108960" cy="475488"/>
          </a:xfrm>
          <a:prstGeom prst="rect">
            <a:avLst/>
          </a:prstGeom>
          <a:solidFill>
            <a:srgbClr val="F4F8FB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11"/>
          <p:cNvSpPr/>
          <p:nvPr/>
        </p:nvSpPr>
        <p:spPr>
          <a:xfrm>
            <a:off x="457200" y="3099816"/>
            <a:ext cx="29260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Bekleme Listesinden İlk Müşteriyi Al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1"/>
          <p:cNvSpPr/>
          <p:nvPr/>
        </p:nvSpPr>
        <p:spPr>
          <a:xfrm>
            <a:off x="3474720" y="3099816"/>
            <a:ext cx="2286000" cy="475488"/>
          </a:xfrm>
          <a:prstGeom prst="rect">
            <a:avLst/>
          </a:prstGeom>
          <a:solidFill>
            <a:srgbClr val="F4F8FB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4" name="Google Shape;334;p11"/>
          <p:cNvSpPr/>
          <p:nvPr/>
        </p:nvSpPr>
        <p:spPr>
          <a:xfrm>
            <a:off x="3566160" y="3099816"/>
            <a:ext cx="21031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LinkedList — poll()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11"/>
          <p:cNvSpPr/>
          <p:nvPr/>
        </p:nvSpPr>
        <p:spPr>
          <a:xfrm>
            <a:off x="5760720" y="3099816"/>
            <a:ext cx="1417320" cy="475488"/>
          </a:xfrm>
          <a:prstGeom prst="rect">
            <a:avLst/>
          </a:prstGeom>
          <a:solidFill>
            <a:srgbClr val="F4F8FB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6" name="Google Shape;336;p11"/>
          <p:cNvSpPr/>
          <p:nvPr/>
        </p:nvSpPr>
        <p:spPr>
          <a:xfrm>
            <a:off x="5852160" y="3099816"/>
            <a:ext cx="12344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8449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E8449"/>
                </a:solidFill>
                <a:latin typeface="Calibri"/>
                <a:ea typeface="Calibri"/>
                <a:cs typeface="Calibri"/>
                <a:sym typeface="Calibri"/>
              </a:rPr>
              <a:t>O(1)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1"/>
          <p:cNvSpPr/>
          <p:nvPr/>
        </p:nvSpPr>
        <p:spPr>
          <a:xfrm>
            <a:off x="7178040" y="3099816"/>
            <a:ext cx="1417320" cy="475488"/>
          </a:xfrm>
          <a:prstGeom prst="rect">
            <a:avLst/>
          </a:prstGeom>
          <a:solidFill>
            <a:srgbClr val="F4F8FB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p11"/>
          <p:cNvSpPr/>
          <p:nvPr/>
        </p:nvSpPr>
        <p:spPr>
          <a:xfrm>
            <a:off x="7269480" y="3099816"/>
            <a:ext cx="12344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8449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E8449"/>
                </a:solidFill>
                <a:latin typeface="Calibri"/>
                <a:ea typeface="Calibri"/>
                <a:cs typeface="Calibri"/>
                <a:sym typeface="Calibri"/>
              </a:rPr>
              <a:t>O(1)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1"/>
          <p:cNvSpPr/>
          <p:nvPr/>
        </p:nvSpPr>
        <p:spPr>
          <a:xfrm>
            <a:off x="365760" y="3575304"/>
            <a:ext cx="3108960" cy="47548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" name="Google Shape;340;p11"/>
          <p:cNvSpPr/>
          <p:nvPr/>
        </p:nvSpPr>
        <p:spPr>
          <a:xfrm>
            <a:off x="457200" y="3575304"/>
            <a:ext cx="29260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Geçmişe Rezervasyon Kaydetme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1"/>
          <p:cNvSpPr/>
          <p:nvPr/>
        </p:nvSpPr>
        <p:spPr>
          <a:xfrm>
            <a:off x="3474720" y="3575304"/>
            <a:ext cx="2286000" cy="47548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p11"/>
          <p:cNvSpPr/>
          <p:nvPr/>
        </p:nvSpPr>
        <p:spPr>
          <a:xfrm>
            <a:off x="3566160" y="3575304"/>
            <a:ext cx="21031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Binary Search Tree — insert()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1"/>
          <p:cNvSpPr/>
          <p:nvPr/>
        </p:nvSpPr>
        <p:spPr>
          <a:xfrm>
            <a:off x="5760720" y="3575304"/>
            <a:ext cx="1417320" cy="47548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4" name="Google Shape;344;p11"/>
          <p:cNvSpPr/>
          <p:nvPr/>
        </p:nvSpPr>
        <p:spPr>
          <a:xfrm>
            <a:off x="5852160" y="3575304"/>
            <a:ext cx="12344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71A3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2471A3"/>
                </a:solidFill>
                <a:latin typeface="Calibri"/>
                <a:ea typeface="Calibri"/>
                <a:cs typeface="Calibri"/>
                <a:sym typeface="Calibri"/>
              </a:rPr>
              <a:t>O(log n)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1"/>
          <p:cNvSpPr/>
          <p:nvPr/>
        </p:nvSpPr>
        <p:spPr>
          <a:xfrm>
            <a:off x="7178040" y="3575304"/>
            <a:ext cx="1417320" cy="47548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11"/>
          <p:cNvSpPr/>
          <p:nvPr/>
        </p:nvSpPr>
        <p:spPr>
          <a:xfrm>
            <a:off x="7269480" y="3575304"/>
            <a:ext cx="12344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35400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D35400"/>
                </a:solidFill>
                <a:latin typeface="Calibri"/>
                <a:ea typeface="Calibri"/>
                <a:cs typeface="Calibri"/>
                <a:sym typeface="Calibri"/>
              </a:rPr>
              <a:t>O(n)**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1"/>
          <p:cNvSpPr/>
          <p:nvPr/>
        </p:nvSpPr>
        <p:spPr>
          <a:xfrm>
            <a:off x="365760" y="4050792"/>
            <a:ext cx="3108960" cy="475488"/>
          </a:xfrm>
          <a:prstGeom prst="rect">
            <a:avLst/>
          </a:prstGeom>
          <a:solidFill>
            <a:srgbClr val="F4F8FB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p11"/>
          <p:cNvSpPr/>
          <p:nvPr/>
        </p:nvSpPr>
        <p:spPr>
          <a:xfrm>
            <a:off x="457200" y="4050792"/>
            <a:ext cx="29260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Geçmişi Sıralı Listeleme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1"/>
          <p:cNvSpPr/>
          <p:nvPr/>
        </p:nvSpPr>
        <p:spPr>
          <a:xfrm>
            <a:off x="3474720" y="4050792"/>
            <a:ext cx="2286000" cy="475488"/>
          </a:xfrm>
          <a:prstGeom prst="rect">
            <a:avLst/>
          </a:prstGeom>
          <a:solidFill>
            <a:srgbClr val="F4F8FB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p11"/>
          <p:cNvSpPr/>
          <p:nvPr/>
        </p:nvSpPr>
        <p:spPr>
          <a:xfrm>
            <a:off x="3566160" y="4050792"/>
            <a:ext cx="21031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BST — In-Order Traversal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1"/>
          <p:cNvSpPr/>
          <p:nvPr/>
        </p:nvSpPr>
        <p:spPr>
          <a:xfrm>
            <a:off x="5760720" y="4050792"/>
            <a:ext cx="1417320" cy="475488"/>
          </a:xfrm>
          <a:prstGeom prst="rect">
            <a:avLst/>
          </a:prstGeom>
          <a:solidFill>
            <a:srgbClr val="F4F8FB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11"/>
          <p:cNvSpPr/>
          <p:nvPr/>
        </p:nvSpPr>
        <p:spPr>
          <a:xfrm>
            <a:off x="5852160" y="4050792"/>
            <a:ext cx="12344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35400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D35400"/>
                </a:solidFill>
                <a:latin typeface="Calibri"/>
                <a:ea typeface="Calibri"/>
                <a:cs typeface="Calibri"/>
                <a:sym typeface="Calibri"/>
              </a:rPr>
              <a:t>O(n)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1"/>
          <p:cNvSpPr/>
          <p:nvPr/>
        </p:nvSpPr>
        <p:spPr>
          <a:xfrm>
            <a:off x="7178040" y="4050792"/>
            <a:ext cx="1417320" cy="475488"/>
          </a:xfrm>
          <a:prstGeom prst="rect">
            <a:avLst/>
          </a:prstGeom>
          <a:solidFill>
            <a:srgbClr val="F4F8FB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p11"/>
          <p:cNvSpPr/>
          <p:nvPr/>
        </p:nvSpPr>
        <p:spPr>
          <a:xfrm>
            <a:off x="7269480" y="4050792"/>
            <a:ext cx="12344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35400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D35400"/>
                </a:solidFill>
                <a:latin typeface="Calibri"/>
                <a:ea typeface="Calibri"/>
                <a:cs typeface="Calibri"/>
                <a:sym typeface="Calibri"/>
              </a:rPr>
              <a:t>O(n)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11"/>
          <p:cNvSpPr/>
          <p:nvPr/>
        </p:nvSpPr>
        <p:spPr>
          <a:xfrm>
            <a:off x="365760" y="4526280"/>
            <a:ext cx="3108960" cy="47548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6" name="Google Shape;356;p11"/>
          <p:cNvSpPr/>
          <p:nvPr/>
        </p:nvSpPr>
        <p:spPr>
          <a:xfrm>
            <a:off x="457200" y="4526280"/>
            <a:ext cx="29260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CSV'den Veri Yükleme / Kaydetme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1"/>
          <p:cNvSpPr/>
          <p:nvPr/>
        </p:nvSpPr>
        <p:spPr>
          <a:xfrm>
            <a:off x="3474720" y="4526280"/>
            <a:ext cx="2286000" cy="47548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11"/>
          <p:cNvSpPr/>
          <p:nvPr/>
        </p:nvSpPr>
        <p:spPr>
          <a:xfrm>
            <a:off x="3566160" y="4526280"/>
            <a:ext cx="21031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BufferedReader / PrintWriter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1"/>
          <p:cNvSpPr/>
          <p:nvPr/>
        </p:nvSpPr>
        <p:spPr>
          <a:xfrm>
            <a:off x="5760720" y="4526280"/>
            <a:ext cx="1417320" cy="47548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0" name="Google Shape;360;p11"/>
          <p:cNvSpPr/>
          <p:nvPr/>
        </p:nvSpPr>
        <p:spPr>
          <a:xfrm>
            <a:off x="5852160" y="4526280"/>
            <a:ext cx="12344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35400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D35400"/>
                </a:solidFill>
                <a:latin typeface="Calibri"/>
                <a:ea typeface="Calibri"/>
                <a:cs typeface="Calibri"/>
                <a:sym typeface="Calibri"/>
              </a:rPr>
              <a:t>O(n)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1"/>
          <p:cNvSpPr/>
          <p:nvPr/>
        </p:nvSpPr>
        <p:spPr>
          <a:xfrm>
            <a:off x="7178040" y="4526280"/>
            <a:ext cx="1417320" cy="47548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2" name="Google Shape;362;p11"/>
          <p:cNvSpPr/>
          <p:nvPr/>
        </p:nvSpPr>
        <p:spPr>
          <a:xfrm>
            <a:off x="7269480" y="4526280"/>
            <a:ext cx="12344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35400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D35400"/>
                </a:solidFill>
                <a:latin typeface="Calibri"/>
                <a:ea typeface="Calibri"/>
                <a:cs typeface="Calibri"/>
                <a:sym typeface="Calibri"/>
              </a:rPr>
              <a:t>O(n)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1"/>
          <p:cNvSpPr/>
          <p:nvPr/>
        </p:nvSpPr>
        <p:spPr>
          <a:xfrm>
            <a:off x="365760" y="4773168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F8C8D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7F8C8D"/>
                </a:solidFill>
                <a:latin typeface="Calibri"/>
                <a:ea typeface="Calibri"/>
                <a:cs typeface="Calibri"/>
                <a:sym typeface="Calibri"/>
              </a:rPr>
              <a:t>* Çok nadir hash çakışması durumunda  |  ** Dengesiz BST (tüm veriler ardışık tarihliyse)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1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3764"/>
          </a:solidFill>
          <a:ln cap="flat" cmpd="sng" w="12700">
            <a:solidFill>
              <a:srgbClr val="1637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0" name="Google Shape;370;p12"/>
          <p:cNvSpPr/>
          <p:nvPr/>
        </p:nvSpPr>
        <p:spPr>
          <a:xfrm>
            <a:off x="0" y="685800"/>
            <a:ext cx="9144000" cy="36576"/>
          </a:xfrm>
          <a:prstGeom prst="rect">
            <a:avLst/>
          </a:prstGeom>
          <a:solidFill>
            <a:srgbClr val="1ABC9C"/>
          </a:solidFill>
          <a:ln cap="flat" cmpd="sng" w="12700">
            <a:solidFill>
              <a:srgbClr val="1ABC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1" name="Google Shape;371;p12"/>
          <p:cNvSpPr/>
          <p:nvPr/>
        </p:nvSpPr>
        <p:spPr>
          <a:xfrm>
            <a:off x="320040" y="0"/>
            <a:ext cx="7772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11. Arayüz (GUI) Tasarımı — Java Swing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2"/>
          <p:cNvSpPr/>
          <p:nvPr/>
        </p:nvSpPr>
        <p:spPr>
          <a:xfrm>
            <a:off x="8046720" y="0"/>
            <a:ext cx="914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ED6F1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AED6F1"/>
                </a:solidFill>
                <a:latin typeface="Calibri"/>
                <a:ea typeface="Calibri"/>
                <a:cs typeface="Calibri"/>
                <a:sym typeface="Calibri"/>
              </a:rPr>
              <a:t>12/15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12"/>
          <p:cNvSpPr/>
          <p:nvPr/>
        </p:nvSpPr>
        <p:spPr>
          <a:xfrm>
            <a:off x="320040" y="914400"/>
            <a:ext cx="4572000" cy="704088"/>
          </a:xfrm>
          <a:prstGeom prst="rect">
            <a:avLst/>
          </a:prstGeom>
          <a:solidFill>
            <a:srgbClr val="F4F8FB"/>
          </a:solidFill>
          <a:ln cap="flat" cmpd="sng" w="12700">
            <a:solidFill>
              <a:srgbClr val="E8EE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4" name="Google Shape;374;p12"/>
          <p:cNvSpPr/>
          <p:nvPr/>
        </p:nvSpPr>
        <p:spPr>
          <a:xfrm>
            <a:off x="320040" y="914400"/>
            <a:ext cx="54864" cy="704088"/>
          </a:xfrm>
          <a:prstGeom prst="rect">
            <a:avLst/>
          </a:prstGeom>
          <a:solidFill>
            <a:srgbClr val="163764"/>
          </a:solidFill>
          <a:ln cap="flat" cmpd="sng" w="12700">
            <a:solidFill>
              <a:srgbClr val="1637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p12"/>
          <p:cNvSpPr/>
          <p:nvPr/>
        </p:nvSpPr>
        <p:spPr>
          <a:xfrm>
            <a:off x="566928" y="969264"/>
            <a:ext cx="4114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764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63764"/>
                </a:solidFill>
                <a:latin typeface="Calibri"/>
                <a:ea typeface="Calibri"/>
                <a:cs typeface="Calibri"/>
                <a:sym typeface="Calibri"/>
              </a:rPr>
              <a:t>Java Swing (javax.swing.*)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12"/>
          <p:cNvSpPr/>
          <p:nvPr/>
        </p:nvSpPr>
        <p:spPr>
          <a:xfrm>
            <a:off x="566928" y="1234440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JavaFX değil! JFrame, JTabbedPane, JTable, JOptionPane kullanıldı.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2"/>
          <p:cNvSpPr/>
          <p:nvPr/>
        </p:nvSpPr>
        <p:spPr>
          <a:xfrm>
            <a:off x="320040" y="1709928"/>
            <a:ext cx="4572000" cy="704088"/>
          </a:xfrm>
          <a:prstGeom prst="rect">
            <a:avLst/>
          </a:prstGeom>
          <a:solidFill>
            <a:srgbClr val="F4F8FB"/>
          </a:solidFill>
          <a:ln cap="flat" cmpd="sng" w="12700">
            <a:solidFill>
              <a:srgbClr val="E8EE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8" name="Google Shape;378;p12"/>
          <p:cNvSpPr/>
          <p:nvPr/>
        </p:nvSpPr>
        <p:spPr>
          <a:xfrm>
            <a:off x="320040" y="1709928"/>
            <a:ext cx="54864" cy="704088"/>
          </a:xfrm>
          <a:prstGeom prst="rect">
            <a:avLst/>
          </a:prstGeom>
          <a:solidFill>
            <a:srgbClr val="163764"/>
          </a:solidFill>
          <a:ln cap="flat" cmpd="sng" w="12700">
            <a:solidFill>
              <a:srgbClr val="1637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p12"/>
          <p:cNvSpPr/>
          <p:nvPr/>
        </p:nvSpPr>
        <p:spPr>
          <a:xfrm>
            <a:off x="566928" y="1764792"/>
            <a:ext cx="4114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764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63764"/>
                </a:solidFill>
                <a:latin typeface="Calibri"/>
                <a:ea typeface="Calibri"/>
                <a:cs typeface="Calibri"/>
                <a:sym typeface="Calibri"/>
              </a:rPr>
              <a:t>Veri Validasyonu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2"/>
          <p:cNvSpPr/>
          <p:nvPr/>
        </p:nvSpPr>
        <p:spPr>
          <a:xfrm>
            <a:off x="566928" y="2029968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Giriş/çıkış tarihleri gg-AA-yyyy formatında parse; hatalı giriş uyarı penceresiyle reddedilir.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2"/>
          <p:cNvSpPr/>
          <p:nvPr/>
        </p:nvSpPr>
        <p:spPr>
          <a:xfrm>
            <a:off x="320040" y="2505456"/>
            <a:ext cx="4572000" cy="704088"/>
          </a:xfrm>
          <a:prstGeom prst="rect">
            <a:avLst/>
          </a:prstGeom>
          <a:solidFill>
            <a:srgbClr val="F4F8FB"/>
          </a:solidFill>
          <a:ln cap="flat" cmpd="sng" w="12700">
            <a:solidFill>
              <a:srgbClr val="E8EE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12"/>
          <p:cNvSpPr/>
          <p:nvPr/>
        </p:nvSpPr>
        <p:spPr>
          <a:xfrm>
            <a:off x="320040" y="2505456"/>
            <a:ext cx="54864" cy="704088"/>
          </a:xfrm>
          <a:prstGeom prst="rect">
            <a:avLst/>
          </a:prstGeom>
          <a:solidFill>
            <a:srgbClr val="163764"/>
          </a:solidFill>
          <a:ln cap="flat" cmpd="sng" w="12700">
            <a:solidFill>
              <a:srgbClr val="1637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3" name="Google Shape;383;p12"/>
          <p:cNvSpPr/>
          <p:nvPr/>
        </p:nvSpPr>
        <p:spPr>
          <a:xfrm>
            <a:off x="566928" y="2560320"/>
            <a:ext cx="4114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764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63764"/>
                </a:solidFill>
                <a:latin typeface="Calibri"/>
                <a:ea typeface="Calibri"/>
                <a:cs typeface="Calibri"/>
                <a:sym typeface="Calibri"/>
              </a:rPr>
              <a:t>Çoklu Şube Desteği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2"/>
          <p:cNvSpPr/>
          <p:nvPr/>
        </p:nvSpPr>
        <p:spPr>
          <a:xfrm>
            <a:off x="566928" y="2825496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Opsiyonel şube alanı ile aynı oda numarası farklı şubelerde ayrıştırılır.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2"/>
          <p:cNvSpPr/>
          <p:nvPr/>
        </p:nvSpPr>
        <p:spPr>
          <a:xfrm>
            <a:off x="320040" y="3300984"/>
            <a:ext cx="4572000" cy="704088"/>
          </a:xfrm>
          <a:prstGeom prst="rect">
            <a:avLst/>
          </a:prstGeom>
          <a:solidFill>
            <a:srgbClr val="F4F8FB"/>
          </a:solidFill>
          <a:ln cap="flat" cmpd="sng" w="12700">
            <a:solidFill>
              <a:srgbClr val="E8EE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12"/>
          <p:cNvSpPr/>
          <p:nvPr/>
        </p:nvSpPr>
        <p:spPr>
          <a:xfrm>
            <a:off x="320040" y="3300984"/>
            <a:ext cx="54864" cy="704088"/>
          </a:xfrm>
          <a:prstGeom prst="rect">
            <a:avLst/>
          </a:prstGeom>
          <a:solidFill>
            <a:srgbClr val="163764"/>
          </a:solidFill>
          <a:ln cap="flat" cmpd="sng" w="12700">
            <a:solidFill>
              <a:srgbClr val="1637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p12"/>
          <p:cNvSpPr/>
          <p:nvPr/>
        </p:nvSpPr>
        <p:spPr>
          <a:xfrm>
            <a:off x="566928" y="3355848"/>
            <a:ext cx="4114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764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63764"/>
                </a:solidFill>
                <a:latin typeface="Calibri"/>
                <a:ea typeface="Calibri"/>
                <a:cs typeface="Calibri"/>
                <a:sym typeface="Calibri"/>
              </a:rPr>
              <a:t>Çift Çalışma Modu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2"/>
          <p:cNvSpPr/>
          <p:nvPr/>
        </p:nvSpPr>
        <p:spPr>
          <a:xfrm>
            <a:off x="566928" y="3621024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Argümansız: GUI  |  java ... terminal argümanıyla: konsol modu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2"/>
          <p:cNvSpPr/>
          <p:nvPr/>
        </p:nvSpPr>
        <p:spPr>
          <a:xfrm>
            <a:off x="320040" y="4096512"/>
            <a:ext cx="4572000" cy="704088"/>
          </a:xfrm>
          <a:prstGeom prst="rect">
            <a:avLst/>
          </a:prstGeom>
          <a:solidFill>
            <a:srgbClr val="F4F8FB"/>
          </a:solidFill>
          <a:ln cap="flat" cmpd="sng" w="12700">
            <a:solidFill>
              <a:srgbClr val="E8EE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0" name="Google Shape;390;p12"/>
          <p:cNvSpPr/>
          <p:nvPr/>
        </p:nvSpPr>
        <p:spPr>
          <a:xfrm>
            <a:off x="320040" y="4096512"/>
            <a:ext cx="54864" cy="704088"/>
          </a:xfrm>
          <a:prstGeom prst="rect">
            <a:avLst/>
          </a:prstGeom>
          <a:solidFill>
            <a:srgbClr val="163764"/>
          </a:solidFill>
          <a:ln cap="flat" cmpd="sng" w="12700">
            <a:solidFill>
              <a:srgbClr val="1637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p12"/>
          <p:cNvSpPr/>
          <p:nvPr/>
        </p:nvSpPr>
        <p:spPr>
          <a:xfrm>
            <a:off x="566928" y="4151376"/>
            <a:ext cx="4114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764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63764"/>
                </a:solidFill>
                <a:latin typeface="Calibri"/>
                <a:ea typeface="Calibri"/>
                <a:cs typeface="Calibri"/>
                <a:sym typeface="Calibri"/>
              </a:rPr>
              <a:t>Otomatik Kayıt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2"/>
          <p:cNvSpPr/>
          <p:nvPr/>
        </p:nvSpPr>
        <p:spPr>
          <a:xfrm>
            <a:off x="566928" y="4416552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ShutdownHook ile program kapanınca CSV'ye otomatik kaydedilir.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2"/>
          <p:cNvSpPr/>
          <p:nvPr/>
        </p:nvSpPr>
        <p:spPr>
          <a:xfrm>
            <a:off x="5074920" y="841248"/>
            <a:ext cx="3703320" cy="3931920"/>
          </a:xfrm>
          <a:prstGeom prst="rect">
            <a:avLst/>
          </a:prstGeom>
          <a:solidFill>
            <a:srgbClr val="0D2137"/>
          </a:solidFill>
          <a:ln cap="flat" cmpd="sng" w="12700">
            <a:solidFill>
              <a:srgbClr val="E8EE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4" name="Google Shape;394;p12"/>
          <p:cNvSpPr/>
          <p:nvPr/>
        </p:nvSpPr>
        <p:spPr>
          <a:xfrm>
            <a:off x="5166360" y="914400"/>
            <a:ext cx="35204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BC9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ABC9C"/>
                </a:solidFill>
                <a:latin typeface="Calibri"/>
                <a:ea typeface="Calibri"/>
                <a:cs typeface="Calibri"/>
                <a:sym typeface="Calibri"/>
              </a:rPr>
              <a:t>JFrame — E-Otel Rezervasyon Sistemi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12"/>
          <p:cNvSpPr/>
          <p:nvPr/>
        </p:nvSpPr>
        <p:spPr>
          <a:xfrm>
            <a:off x="5166360" y="1280160"/>
            <a:ext cx="640080" cy="292608"/>
          </a:xfrm>
          <a:prstGeom prst="rect">
            <a:avLst/>
          </a:prstGeom>
          <a:solidFill>
            <a:srgbClr val="1ABC9C"/>
          </a:solidFill>
          <a:ln cap="flat" cmpd="sng" w="12700">
            <a:solidFill>
              <a:srgbClr val="1ABC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6" name="Google Shape;396;p12"/>
          <p:cNvSpPr/>
          <p:nvPr/>
        </p:nvSpPr>
        <p:spPr>
          <a:xfrm>
            <a:off x="5166360" y="1280160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Calibri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Yeni Rezv.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2"/>
          <p:cNvSpPr/>
          <p:nvPr/>
        </p:nvSpPr>
        <p:spPr>
          <a:xfrm>
            <a:off x="5843016" y="1280160"/>
            <a:ext cx="640080" cy="292608"/>
          </a:xfrm>
          <a:prstGeom prst="rect">
            <a:avLst/>
          </a:prstGeom>
          <a:solidFill>
            <a:srgbClr val="163764"/>
          </a:solidFill>
          <a:ln cap="flat" cmpd="sng" w="12700">
            <a:solidFill>
              <a:srgbClr val="2471A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8" name="Google Shape;398;p12"/>
          <p:cNvSpPr/>
          <p:nvPr/>
        </p:nvSpPr>
        <p:spPr>
          <a:xfrm>
            <a:off x="5843016" y="1280160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Calibri"/>
              <a:buNone/>
            </a:pPr>
            <a:r>
              <a:rPr b="0" i="0" lang="en-US" sz="7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Aktif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12"/>
          <p:cNvSpPr/>
          <p:nvPr/>
        </p:nvSpPr>
        <p:spPr>
          <a:xfrm>
            <a:off x="6519672" y="1280160"/>
            <a:ext cx="640080" cy="292608"/>
          </a:xfrm>
          <a:prstGeom prst="rect">
            <a:avLst/>
          </a:prstGeom>
          <a:solidFill>
            <a:srgbClr val="163764"/>
          </a:solidFill>
          <a:ln cap="flat" cmpd="sng" w="12700">
            <a:solidFill>
              <a:srgbClr val="2471A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p12"/>
          <p:cNvSpPr/>
          <p:nvPr/>
        </p:nvSpPr>
        <p:spPr>
          <a:xfrm>
            <a:off x="6519672" y="1280160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Calibri"/>
              <a:buNone/>
            </a:pPr>
            <a:r>
              <a:rPr b="0" i="0" lang="en-US" sz="7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Odalar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2"/>
          <p:cNvSpPr/>
          <p:nvPr/>
        </p:nvSpPr>
        <p:spPr>
          <a:xfrm>
            <a:off x="7196328" y="1280160"/>
            <a:ext cx="640080" cy="292608"/>
          </a:xfrm>
          <a:prstGeom prst="rect">
            <a:avLst/>
          </a:prstGeom>
          <a:solidFill>
            <a:srgbClr val="163764"/>
          </a:solidFill>
          <a:ln cap="flat" cmpd="sng" w="12700">
            <a:solidFill>
              <a:srgbClr val="2471A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2" name="Google Shape;402;p12"/>
          <p:cNvSpPr/>
          <p:nvPr/>
        </p:nvSpPr>
        <p:spPr>
          <a:xfrm>
            <a:off x="7196328" y="1280160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Calibri"/>
              <a:buNone/>
            </a:pPr>
            <a:r>
              <a:rPr b="0" i="0" lang="en-US" sz="7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Bekleme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12"/>
          <p:cNvSpPr/>
          <p:nvPr/>
        </p:nvSpPr>
        <p:spPr>
          <a:xfrm>
            <a:off x="7872984" y="1280160"/>
            <a:ext cx="640080" cy="292608"/>
          </a:xfrm>
          <a:prstGeom prst="rect">
            <a:avLst/>
          </a:prstGeom>
          <a:solidFill>
            <a:srgbClr val="163764"/>
          </a:solidFill>
          <a:ln cap="flat" cmpd="sng" w="12700">
            <a:solidFill>
              <a:srgbClr val="2471A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4" name="Google Shape;404;p12"/>
          <p:cNvSpPr/>
          <p:nvPr/>
        </p:nvSpPr>
        <p:spPr>
          <a:xfrm>
            <a:off x="7872984" y="1280160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Calibri"/>
              <a:buNone/>
            </a:pPr>
            <a:r>
              <a:rPr b="0" i="0" lang="en-US" sz="7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Geçmiş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12"/>
          <p:cNvSpPr/>
          <p:nvPr/>
        </p:nvSpPr>
        <p:spPr>
          <a:xfrm>
            <a:off x="5166360" y="1572768"/>
            <a:ext cx="3520440" cy="2286000"/>
          </a:xfrm>
          <a:prstGeom prst="rect">
            <a:avLst/>
          </a:prstGeom>
          <a:solidFill>
            <a:srgbClr val="2C3E50"/>
          </a:solidFill>
          <a:ln cap="flat" cmpd="sng" w="12700">
            <a:solidFill>
              <a:srgbClr val="1637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6" name="Google Shape;406;p12"/>
          <p:cNvSpPr/>
          <p:nvPr/>
        </p:nvSpPr>
        <p:spPr>
          <a:xfrm>
            <a:off x="5257800" y="1664208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ED6F1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AED6F1"/>
                </a:solidFill>
                <a:latin typeface="Calibri"/>
                <a:ea typeface="Calibri"/>
                <a:cs typeface="Calibri"/>
                <a:sym typeface="Calibri"/>
              </a:rPr>
              <a:t>Müşteri Adı: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12"/>
          <p:cNvSpPr/>
          <p:nvPr/>
        </p:nvSpPr>
        <p:spPr>
          <a:xfrm>
            <a:off x="6766560" y="1691640"/>
            <a:ext cx="1737360" cy="219456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8EEF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8" name="Google Shape;408;p12"/>
          <p:cNvSpPr/>
          <p:nvPr/>
        </p:nvSpPr>
        <p:spPr>
          <a:xfrm>
            <a:off x="5257800" y="1993392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ED6F1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AED6F1"/>
                </a:solidFill>
                <a:latin typeface="Calibri"/>
                <a:ea typeface="Calibri"/>
                <a:cs typeface="Calibri"/>
                <a:sym typeface="Calibri"/>
              </a:rPr>
              <a:t>Müşteri E-posta: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2"/>
          <p:cNvSpPr/>
          <p:nvPr/>
        </p:nvSpPr>
        <p:spPr>
          <a:xfrm>
            <a:off x="6766560" y="2020824"/>
            <a:ext cx="1737360" cy="219456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8EEF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0" name="Google Shape;410;p12"/>
          <p:cNvSpPr/>
          <p:nvPr/>
        </p:nvSpPr>
        <p:spPr>
          <a:xfrm>
            <a:off x="5257800" y="2322576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ED6F1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AED6F1"/>
                </a:solidFill>
                <a:latin typeface="Calibri"/>
                <a:ea typeface="Calibri"/>
                <a:cs typeface="Calibri"/>
                <a:sym typeface="Calibri"/>
              </a:rPr>
              <a:t>Oda Numarası: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12"/>
          <p:cNvSpPr/>
          <p:nvPr/>
        </p:nvSpPr>
        <p:spPr>
          <a:xfrm>
            <a:off x="6766560" y="2350008"/>
            <a:ext cx="1737360" cy="219456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8EEF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2" name="Google Shape;412;p12"/>
          <p:cNvSpPr/>
          <p:nvPr/>
        </p:nvSpPr>
        <p:spPr>
          <a:xfrm>
            <a:off x="5257800" y="2651760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ED6F1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AED6F1"/>
                </a:solidFill>
                <a:latin typeface="Calibri"/>
                <a:ea typeface="Calibri"/>
                <a:cs typeface="Calibri"/>
                <a:sym typeface="Calibri"/>
              </a:rPr>
              <a:t>Giriş Tarihi: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2"/>
          <p:cNvSpPr/>
          <p:nvPr/>
        </p:nvSpPr>
        <p:spPr>
          <a:xfrm>
            <a:off x="6766560" y="2679192"/>
            <a:ext cx="1737360" cy="219456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8EEF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p12"/>
          <p:cNvSpPr/>
          <p:nvPr/>
        </p:nvSpPr>
        <p:spPr>
          <a:xfrm>
            <a:off x="5257800" y="2980944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ED6F1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AED6F1"/>
                </a:solidFill>
                <a:latin typeface="Calibri"/>
                <a:ea typeface="Calibri"/>
                <a:cs typeface="Calibri"/>
                <a:sym typeface="Calibri"/>
              </a:rPr>
              <a:t>Çıkış Tarihi: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2"/>
          <p:cNvSpPr/>
          <p:nvPr/>
        </p:nvSpPr>
        <p:spPr>
          <a:xfrm>
            <a:off x="6766560" y="3008376"/>
            <a:ext cx="1737360" cy="219456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8EEF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6" name="Google Shape;416;p12"/>
          <p:cNvSpPr/>
          <p:nvPr/>
        </p:nvSpPr>
        <p:spPr>
          <a:xfrm>
            <a:off x="5257800" y="3310128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ED6F1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AED6F1"/>
                </a:solidFill>
                <a:latin typeface="Calibri"/>
                <a:ea typeface="Calibri"/>
                <a:cs typeface="Calibri"/>
                <a:sym typeface="Calibri"/>
              </a:rPr>
              <a:t>Şube (opsiyonel):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2"/>
          <p:cNvSpPr/>
          <p:nvPr/>
        </p:nvSpPr>
        <p:spPr>
          <a:xfrm>
            <a:off x="6766560" y="3337560"/>
            <a:ext cx="1737360" cy="219456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8EEF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8" name="Google Shape;418;p12"/>
          <p:cNvSpPr/>
          <p:nvPr/>
        </p:nvSpPr>
        <p:spPr>
          <a:xfrm>
            <a:off x="6035040" y="3904488"/>
            <a:ext cx="1737360" cy="274320"/>
          </a:xfrm>
          <a:prstGeom prst="rect">
            <a:avLst/>
          </a:prstGeom>
          <a:solidFill>
            <a:srgbClr val="1ABC9C"/>
          </a:solidFill>
          <a:ln cap="flat" cmpd="sng" w="12700">
            <a:solidFill>
              <a:srgbClr val="1ABC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9" name="Google Shape;419;p12"/>
          <p:cNvSpPr/>
          <p:nvPr/>
        </p:nvSpPr>
        <p:spPr>
          <a:xfrm>
            <a:off x="6035040" y="3904488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Rezervasyon Yap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13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3764"/>
          </a:solidFill>
          <a:ln cap="flat" cmpd="sng" w="12700">
            <a:solidFill>
              <a:srgbClr val="1637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6" name="Google Shape;426;p13"/>
          <p:cNvSpPr/>
          <p:nvPr/>
        </p:nvSpPr>
        <p:spPr>
          <a:xfrm>
            <a:off x="0" y="685800"/>
            <a:ext cx="9144000" cy="36576"/>
          </a:xfrm>
          <a:prstGeom prst="rect">
            <a:avLst/>
          </a:prstGeom>
          <a:solidFill>
            <a:srgbClr val="1ABC9C"/>
          </a:solidFill>
          <a:ln cap="flat" cmpd="sng" w="12700">
            <a:solidFill>
              <a:srgbClr val="1ABC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7" name="Google Shape;427;p13"/>
          <p:cNvSpPr/>
          <p:nvPr/>
        </p:nvSpPr>
        <p:spPr>
          <a:xfrm>
            <a:off x="320040" y="0"/>
            <a:ext cx="7772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12. Kalıcılık: CSV Dosyası (hotel_data.csv)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13"/>
          <p:cNvSpPr/>
          <p:nvPr/>
        </p:nvSpPr>
        <p:spPr>
          <a:xfrm>
            <a:off x="8046720" y="0"/>
            <a:ext cx="914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ED6F1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AED6F1"/>
                </a:solidFill>
                <a:latin typeface="Calibri"/>
                <a:ea typeface="Calibri"/>
                <a:cs typeface="Calibri"/>
                <a:sym typeface="Calibri"/>
              </a:rPr>
              <a:t>13/15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13"/>
          <p:cNvSpPr/>
          <p:nvPr/>
        </p:nvSpPr>
        <p:spPr>
          <a:xfrm>
            <a:off x="365760" y="804672"/>
            <a:ext cx="84124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Harici kütüphane gerektirmez. Tüm veriler tek CSV dosyasında saklanır.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13"/>
          <p:cNvSpPr/>
          <p:nvPr/>
        </p:nvSpPr>
        <p:spPr>
          <a:xfrm>
            <a:off x="365760" y="1234440"/>
            <a:ext cx="5120640" cy="3017520"/>
          </a:xfrm>
          <a:prstGeom prst="rect">
            <a:avLst/>
          </a:prstGeom>
          <a:solidFill>
            <a:srgbClr val="1C2833"/>
          </a:solidFill>
          <a:ln cap="flat" cmpd="sng" w="12700">
            <a:solidFill>
              <a:srgbClr val="E8EE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1" name="Google Shape;431;p13"/>
          <p:cNvSpPr/>
          <p:nvPr/>
        </p:nvSpPr>
        <p:spPr>
          <a:xfrm>
            <a:off x="457200" y="1298448"/>
            <a:ext cx="4937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BC9C"/>
              </a:buClr>
              <a:buSzPts val="1200"/>
              <a:buFont typeface="Consolas"/>
              <a:buNone/>
            </a:pPr>
            <a:r>
              <a:rPr b="1" i="0" lang="en-US" sz="1200" u="none" cap="none" strike="noStrike">
                <a:solidFill>
                  <a:srgbClr val="1ABC9C"/>
                </a:solidFill>
                <a:latin typeface="Consolas"/>
                <a:ea typeface="Consolas"/>
                <a:cs typeface="Consolas"/>
                <a:sym typeface="Consolas"/>
              </a:rPr>
              <a:t>hotel_data.csv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13"/>
          <p:cNvSpPr/>
          <p:nvPr/>
        </p:nvSpPr>
        <p:spPr>
          <a:xfrm>
            <a:off x="548640" y="1719072"/>
            <a:ext cx="47548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98DB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3498DB"/>
                </a:solidFill>
                <a:latin typeface="Consolas"/>
                <a:ea typeface="Consolas"/>
                <a:cs typeface="Consolas"/>
                <a:sym typeface="Consolas"/>
              </a:rPr>
              <a:t>ROOM,R1,101,Standart,Sube A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13"/>
          <p:cNvSpPr/>
          <p:nvPr/>
        </p:nvSpPr>
        <p:spPr>
          <a:xfrm>
            <a:off x="548640" y="2057400"/>
            <a:ext cx="47548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98DB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3498DB"/>
                </a:solidFill>
                <a:latin typeface="Consolas"/>
                <a:ea typeface="Consolas"/>
                <a:cs typeface="Consolas"/>
                <a:sym typeface="Consolas"/>
              </a:rPr>
              <a:t>ROOM,R2,102,Deluxe,Sube A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13"/>
          <p:cNvSpPr/>
          <p:nvPr/>
        </p:nvSpPr>
        <p:spPr>
          <a:xfrm>
            <a:off x="548640" y="2395728"/>
            <a:ext cx="47548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CC71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2ECC71"/>
                </a:solidFill>
                <a:latin typeface="Consolas"/>
                <a:ea typeface="Consolas"/>
                <a:cs typeface="Consolas"/>
                <a:sym typeface="Consolas"/>
              </a:rPr>
              <a:t>CUST,C1,Alice Johnson,alice@mail.com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13"/>
          <p:cNvSpPr/>
          <p:nvPr/>
        </p:nvSpPr>
        <p:spPr>
          <a:xfrm>
            <a:off x="548640" y="2734056"/>
            <a:ext cx="47548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CC71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2ECC71"/>
                </a:solidFill>
                <a:latin typeface="Consolas"/>
                <a:ea typeface="Consolas"/>
                <a:cs typeface="Consolas"/>
                <a:sym typeface="Consolas"/>
              </a:rPr>
              <a:t>CUST,C2,Bob Smith,bob@mail.com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13"/>
          <p:cNvSpPr/>
          <p:nvPr/>
        </p:nvSpPr>
        <p:spPr>
          <a:xfrm>
            <a:off x="548640" y="3072384"/>
            <a:ext cx="47548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9C12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F39C12"/>
                </a:solidFill>
                <a:latin typeface="Consolas"/>
                <a:ea typeface="Consolas"/>
                <a:cs typeface="Consolas"/>
                <a:sym typeface="Consolas"/>
              </a:rPr>
              <a:t>RES,RES001,R1,C1,19-05-2026,22-05-2026,ACTIVE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13"/>
          <p:cNvSpPr/>
          <p:nvPr/>
        </p:nvSpPr>
        <p:spPr>
          <a:xfrm>
            <a:off x="548640" y="3410712"/>
            <a:ext cx="47548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F8C8D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7F8C8D"/>
                </a:solidFill>
                <a:latin typeface="Consolas"/>
                <a:ea typeface="Consolas"/>
                <a:cs typeface="Consolas"/>
                <a:sym typeface="Consolas"/>
              </a:rPr>
              <a:t>RES,RES002,R2,C2,01-04-2026,05-04-2026,COMPLETED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13"/>
          <p:cNvSpPr/>
          <p:nvPr/>
        </p:nvSpPr>
        <p:spPr>
          <a:xfrm>
            <a:off x="5669280" y="1234440"/>
            <a:ext cx="3108960" cy="804672"/>
          </a:xfrm>
          <a:prstGeom prst="rect">
            <a:avLst/>
          </a:prstGeom>
          <a:solidFill>
            <a:srgbClr val="F4F8FB"/>
          </a:solidFill>
          <a:ln cap="flat" cmpd="sng" w="12700">
            <a:solidFill>
              <a:srgbClr val="E8EE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9" name="Google Shape;439;p13"/>
          <p:cNvSpPr/>
          <p:nvPr/>
        </p:nvSpPr>
        <p:spPr>
          <a:xfrm>
            <a:off x="5669280" y="1234440"/>
            <a:ext cx="54864" cy="804672"/>
          </a:xfrm>
          <a:prstGeom prst="rect">
            <a:avLst/>
          </a:prstGeom>
          <a:solidFill>
            <a:srgbClr val="3498DB"/>
          </a:solidFill>
          <a:ln cap="flat" cmpd="sng" w="12700">
            <a:solidFill>
              <a:srgbClr val="3498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0" name="Google Shape;440;p13"/>
          <p:cNvSpPr/>
          <p:nvPr/>
        </p:nvSpPr>
        <p:spPr>
          <a:xfrm>
            <a:off x="5897880" y="132588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764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63764"/>
                </a:solidFill>
                <a:latin typeface="Calibri"/>
                <a:ea typeface="Calibri"/>
                <a:cs typeface="Calibri"/>
                <a:sym typeface="Calibri"/>
              </a:rPr>
              <a:t>ROOM satırı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13"/>
          <p:cNvSpPr/>
          <p:nvPr/>
        </p:nvSpPr>
        <p:spPr>
          <a:xfrm>
            <a:off x="5897880" y="1627632"/>
            <a:ext cx="2651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ID, oda no, tip, şube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13"/>
          <p:cNvSpPr/>
          <p:nvPr/>
        </p:nvSpPr>
        <p:spPr>
          <a:xfrm>
            <a:off x="5669280" y="2194560"/>
            <a:ext cx="3108960" cy="804672"/>
          </a:xfrm>
          <a:prstGeom prst="rect">
            <a:avLst/>
          </a:prstGeom>
          <a:solidFill>
            <a:srgbClr val="F4F8FB"/>
          </a:solidFill>
          <a:ln cap="flat" cmpd="sng" w="12700">
            <a:solidFill>
              <a:srgbClr val="E8EE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3" name="Google Shape;443;p13"/>
          <p:cNvSpPr/>
          <p:nvPr/>
        </p:nvSpPr>
        <p:spPr>
          <a:xfrm>
            <a:off x="5669280" y="2194560"/>
            <a:ext cx="54864" cy="804672"/>
          </a:xfrm>
          <a:prstGeom prst="rect">
            <a:avLst/>
          </a:prstGeom>
          <a:solidFill>
            <a:srgbClr val="2ECC71"/>
          </a:solidFill>
          <a:ln cap="flat" cmpd="sng" w="12700">
            <a:solidFill>
              <a:srgbClr val="2ECC7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13"/>
          <p:cNvSpPr/>
          <p:nvPr/>
        </p:nvSpPr>
        <p:spPr>
          <a:xfrm>
            <a:off x="5897880" y="228600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764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63764"/>
                </a:solidFill>
                <a:latin typeface="Calibri"/>
                <a:ea typeface="Calibri"/>
                <a:cs typeface="Calibri"/>
                <a:sym typeface="Calibri"/>
              </a:rPr>
              <a:t>CUST satırı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13"/>
          <p:cNvSpPr/>
          <p:nvPr/>
        </p:nvSpPr>
        <p:spPr>
          <a:xfrm>
            <a:off x="5897880" y="2587752"/>
            <a:ext cx="2651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ID, ad, e-posta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13"/>
          <p:cNvSpPr/>
          <p:nvPr/>
        </p:nvSpPr>
        <p:spPr>
          <a:xfrm>
            <a:off x="5669280" y="3154680"/>
            <a:ext cx="3108960" cy="804672"/>
          </a:xfrm>
          <a:prstGeom prst="rect">
            <a:avLst/>
          </a:prstGeom>
          <a:solidFill>
            <a:srgbClr val="F4F8FB"/>
          </a:solidFill>
          <a:ln cap="flat" cmpd="sng" w="12700">
            <a:solidFill>
              <a:srgbClr val="E8EE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7" name="Google Shape;447;p13"/>
          <p:cNvSpPr/>
          <p:nvPr/>
        </p:nvSpPr>
        <p:spPr>
          <a:xfrm>
            <a:off x="5669280" y="3154680"/>
            <a:ext cx="54864" cy="804672"/>
          </a:xfrm>
          <a:prstGeom prst="rect">
            <a:avLst/>
          </a:prstGeom>
          <a:solidFill>
            <a:srgbClr val="F39C12"/>
          </a:solidFill>
          <a:ln cap="flat" cmpd="sng" w="12700">
            <a:solidFill>
              <a:srgbClr val="F39C1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8" name="Google Shape;448;p13"/>
          <p:cNvSpPr/>
          <p:nvPr/>
        </p:nvSpPr>
        <p:spPr>
          <a:xfrm>
            <a:off x="5897880" y="324612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764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63764"/>
                </a:solidFill>
                <a:latin typeface="Calibri"/>
                <a:ea typeface="Calibri"/>
                <a:cs typeface="Calibri"/>
                <a:sym typeface="Calibri"/>
              </a:rPr>
              <a:t>RES satırı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13"/>
          <p:cNvSpPr/>
          <p:nvPr/>
        </p:nvSpPr>
        <p:spPr>
          <a:xfrm>
            <a:off x="5897880" y="3547872"/>
            <a:ext cx="2651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ID, oda, müşteri, giriş, çıkış, durum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13"/>
          <p:cNvSpPr/>
          <p:nvPr/>
        </p:nvSpPr>
        <p:spPr>
          <a:xfrm>
            <a:off x="365760" y="4315968"/>
            <a:ext cx="8412480" cy="685800"/>
          </a:xfrm>
          <a:prstGeom prst="rect">
            <a:avLst/>
          </a:prstGeom>
          <a:solidFill>
            <a:srgbClr val="F4F8FB"/>
          </a:solidFill>
          <a:ln cap="flat" cmpd="sng" w="12700">
            <a:solidFill>
              <a:srgbClr val="E8EE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1" name="Google Shape;451;p13"/>
          <p:cNvSpPr/>
          <p:nvPr/>
        </p:nvSpPr>
        <p:spPr>
          <a:xfrm>
            <a:off x="365760" y="4315968"/>
            <a:ext cx="54864" cy="685800"/>
          </a:xfrm>
          <a:prstGeom prst="rect">
            <a:avLst/>
          </a:prstGeom>
          <a:solidFill>
            <a:srgbClr val="163764"/>
          </a:solidFill>
          <a:ln cap="flat" cmpd="sng" w="12700">
            <a:solidFill>
              <a:srgbClr val="1637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2" name="Google Shape;452;p13"/>
          <p:cNvSpPr/>
          <p:nvPr/>
        </p:nvSpPr>
        <p:spPr>
          <a:xfrm>
            <a:off x="640080" y="4389120"/>
            <a:ext cx="8046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764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63764"/>
                </a:solidFill>
                <a:latin typeface="Calibri"/>
                <a:ea typeface="Calibri"/>
                <a:cs typeface="Calibri"/>
                <a:sym typeface="Calibri"/>
              </a:rPr>
              <a:t>saveData(): O(n)  </a:t>
            </a:r>
            <a:r>
              <a:rPr b="0" i="0" lang="en-US" sz="1200" u="none" cap="none" strike="noStrike">
                <a:solidFill>
                  <a:srgbClr val="7F8C8D"/>
                </a:solidFill>
                <a:latin typeface="Calibri"/>
                <a:ea typeface="Calibri"/>
                <a:cs typeface="Calibri"/>
                <a:sym typeface="Calibri"/>
              </a:rPr>
              <a:t>— shutdown hook ile otomatik  |  </a:t>
            </a:r>
            <a:r>
              <a:rPr b="1" i="0" lang="en-US" sz="1200" u="none" cap="none" strike="noStrike">
                <a:solidFill>
                  <a:srgbClr val="163764"/>
                </a:solidFill>
                <a:latin typeface="Calibri"/>
                <a:ea typeface="Calibri"/>
                <a:cs typeface="Calibri"/>
                <a:sym typeface="Calibri"/>
              </a:rPr>
              <a:t>loadData(): O(n)  </a:t>
            </a:r>
            <a:r>
              <a:rPr b="0" i="0" lang="en-US" sz="1200" u="none" cap="none" strike="noStrike">
                <a:solidFill>
                  <a:srgbClr val="7F8C8D"/>
                </a:solidFill>
                <a:latin typeface="Calibri"/>
                <a:ea typeface="Calibri"/>
                <a:cs typeface="Calibri"/>
                <a:sym typeface="Calibri"/>
              </a:rPr>
              <a:t>— başlangıçta, yoksa seedData() çalışır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14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3764"/>
          </a:solidFill>
          <a:ln cap="flat" cmpd="sng" w="12700">
            <a:solidFill>
              <a:srgbClr val="1637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9" name="Google Shape;459;p14"/>
          <p:cNvSpPr/>
          <p:nvPr/>
        </p:nvSpPr>
        <p:spPr>
          <a:xfrm>
            <a:off x="0" y="685800"/>
            <a:ext cx="9144000" cy="36576"/>
          </a:xfrm>
          <a:prstGeom prst="rect">
            <a:avLst/>
          </a:prstGeom>
          <a:solidFill>
            <a:srgbClr val="1ABC9C"/>
          </a:solidFill>
          <a:ln cap="flat" cmpd="sng" w="12700">
            <a:solidFill>
              <a:srgbClr val="1ABC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0" name="Google Shape;460;p14"/>
          <p:cNvSpPr/>
          <p:nvPr/>
        </p:nvSpPr>
        <p:spPr>
          <a:xfrm>
            <a:off x="320040" y="0"/>
            <a:ext cx="7772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13. Hata Yönetimi ve Test Senaryoları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14"/>
          <p:cNvSpPr/>
          <p:nvPr/>
        </p:nvSpPr>
        <p:spPr>
          <a:xfrm>
            <a:off x="8046720" y="0"/>
            <a:ext cx="914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ED6F1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AED6F1"/>
                </a:solidFill>
                <a:latin typeface="Calibri"/>
                <a:ea typeface="Calibri"/>
                <a:cs typeface="Calibri"/>
                <a:sym typeface="Calibri"/>
              </a:rPr>
              <a:t>14/15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14"/>
          <p:cNvSpPr/>
          <p:nvPr/>
        </p:nvSpPr>
        <p:spPr>
          <a:xfrm>
            <a:off x="365760" y="804672"/>
            <a:ext cx="84124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Try-Catch blokları ve doğrulama katmanları ile sistemin kararlı çalışması sağlanmıştır: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14"/>
          <p:cNvSpPr/>
          <p:nvPr/>
        </p:nvSpPr>
        <p:spPr>
          <a:xfrm>
            <a:off x="320040" y="1261872"/>
            <a:ext cx="2697480" cy="1481328"/>
          </a:xfrm>
          <a:prstGeom prst="rect">
            <a:avLst/>
          </a:prstGeom>
          <a:solidFill>
            <a:srgbClr val="F4F8FB"/>
          </a:solidFill>
          <a:ln cap="flat" cmpd="sng" w="12700">
            <a:solidFill>
              <a:srgbClr val="E8EE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4" name="Google Shape;464;p14"/>
          <p:cNvSpPr/>
          <p:nvPr/>
        </p:nvSpPr>
        <p:spPr>
          <a:xfrm>
            <a:off x="320040" y="1261872"/>
            <a:ext cx="54864" cy="1481328"/>
          </a:xfrm>
          <a:prstGeom prst="rect">
            <a:avLst/>
          </a:prstGeom>
          <a:solidFill>
            <a:srgbClr val="D35400"/>
          </a:solidFill>
          <a:ln cap="flat" cmpd="sng" w="12700">
            <a:solidFill>
              <a:srgbClr val="D354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5" name="Google Shape;465;p14"/>
          <p:cNvSpPr/>
          <p:nvPr/>
        </p:nvSpPr>
        <p:spPr>
          <a:xfrm>
            <a:off x="502920" y="1353312"/>
            <a:ext cx="22860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35400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D35400"/>
                </a:solidFill>
                <a:latin typeface="Calibri"/>
                <a:ea typeface="Calibri"/>
                <a:cs typeface="Calibri"/>
                <a:sym typeface="Calibri"/>
              </a:rPr>
              <a:t>⚠️  Geçersiz Tarih Formatı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14"/>
          <p:cNvSpPr/>
          <p:nvPr/>
        </p:nvSpPr>
        <p:spPr>
          <a:xfrm>
            <a:off x="502920" y="1737360"/>
            <a:ext cx="2331720" cy="8961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Tarih alanına harf girildiğinde DateTimeParseException yakalanır ve kullanıcıya uyarı gösterilir.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14"/>
          <p:cNvSpPr/>
          <p:nvPr/>
        </p:nvSpPr>
        <p:spPr>
          <a:xfrm>
            <a:off x="5239025" y="1298410"/>
            <a:ext cx="2697600" cy="1481400"/>
          </a:xfrm>
          <a:prstGeom prst="rect">
            <a:avLst/>
          </a:prstGeom>
          <a:solidFill>
            <a:srgbClr val="F4F8FB"/>
          </a:solidFill>
          <a:ln cap="flat" cmpd="sng" w="12700">
            <a:solidFill>
              <a:srgbClr val="E8EE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8" name="Google Shape;468;p14"/>
          <p:cNvSpPr/>
          <p:nvPr/>
        </p:nvSpPr>
        <p:spPr>
          <a:xfrm>
            <a:off x="5239025" y="1344147"/>
            <a:ext cx="54900" cy="1481400"/>
          </a:xfrm>
          <a:prstGeom prst="rect">
            <a:avLst/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9" name="Google Shape;469;p14"/>
          <p:cNvSpPr/>
          <p:nvPr/>
        </p:nvSpPr>
        <p:spPr>
          <a:xfrm>
            <a:off x="5386780" y="1353312"/>
            <a:ext cx="22860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📅  Çakışma Testi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14"/>
          <p:cNvSpPr/>
          <p:nvPr/>
        </p:nvSpPr>
        <p:spPr>
          <a:xfrm>
            <a:off x="5421968" y="1732797"/>
            <a:ext cx="2331600" cy="896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Aynı odaya aynı gün rezervasyon denendiğinde Interval Overlap Check çakışmayı tespit eder → Bekleme Listesine yönlendirilir.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14"/>
          <p:cNvSpPr/>
          <p:nvPr/>
        </p:nvSpPr>
        <p:spPr>
          <a:xfrm>
            <a:off x="6263640" y="1737360"/>
            <a:ext cx="2331720" cy="8961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050"/>
              <a:buFont typeface="Calibri"/>
              <a:buNone/>
            </a:pPr>
            <a:r>
              <a:t/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14"/>
          <p:cNvSpPr/>
          <p:nvPr/>
        </p:nvSpPr>
        <p:spPr>
          <a:xfrm>
            <a:off x="320040" y="2926080"/>
            <a:ext cx="2697480" cy="1481328"/>
          </a:xfrm>
          <a:prstGeom prst="rect">
            <a:avLst/>
          </a:prstGeom>
          <a:solidFill>
            <a:srgbClr val="F4F8FB"/>
          </a:solidFill>
          <a:ln cap="flat" cmpd="sng" w="12700">
            <a:solidFill>
              <a:srgbClr val="E8EE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3" name="Google Shape;473;p14"/>
          <p:cNvSpPr/>
          <p:nvPr/>
        </p:nvSpPr>
        <p:spPr>
          <a:xfrm>
            <a:off x="320040" y="2926080"/>
            <a:ext cx="54864" cy="1481328"/>
          </a:xfrm>
          <a:prstGeom prst="rect">
            <a:avLst/>
          </a:prstGeom>
          <a:solidFill>
            <a:srgbClr val="1E8449"/>
          </a:solidFill>
          <a:ln cap="flat" cmpd="sng" w="12700">
            <a:solidFill>
              <a:srgbClr val="1E844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4" name="Google Shape;474;p14"/>
          <p:cNvSpPr/>
          <p:nvPr/>
        </p:nvSpPr>
        <p:spPr>
          <a:xfrm>
            <a:off x="502920" y="3017520"/>
            <a:ext cx="22860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8449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8449"/>
                </a:solidFill>
                <a:latin typeface="Calibri"/>
                <a:ea typeface="Calibri"/>
                <a:cs typeface="Calibri"/>
                <a:sym typeface="Calibri"/>
              </a:rPr>
              <a:t>🗂️  CSV Okuma Hatası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14"/>
          <p:cNvSpPr/>
          <p:nvPr/>
        </p:nvSpPr>
        <p:spPr>
          <a:xfrm>
            <a:off x="502920" y="3401568"/>
            <a:ext cx="2331720" cy="8961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hotel_data.csv bozuk veya eksikse IOException yakalanır ve seedData() ile varsayılan veriler yüklenir.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" name="Google Shape;476;p14"/>
          <p:cNvSpPr/>
          <p:nvPr/>
        </p:nvSpPr>
        <p:spPr>
          <a:xfrm>
            <a:off x="3383280" y="3017520"/>
            <a:ext cx="22860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764"/>
              </a:buClr>
              <a:buSzPts val="1200"/>
              <a:buFont typeface="Calibri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14"/>
          <p:cNvSpPr/>
          <p:nvPr/>
        </p:nvSpPr>
        <p:spPr>
          <a:xfrm>
            <a:off x="3383280" y="3639318"/>
            <a:ext cx="2331600" cy="896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050"/>
              <a:buFont typeface="Calibri"/>
              <a:buNone/>
            </a:pPr>
            <a:r>
              <a:t/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14"/>
          <p:cNvSpPr/>
          <p:nvPr/>
        </p:nvSpPr>
        <p:spPr>
          <a:xfrm>
            <a:off x="5239035" y="3035843"/>
            <a:ext cx="2697600" cy="1481400"/>
          </a:xfrm>
          <a:prstGeom prst="rect">
            <a:avLst/>
          </a:prstGeom>
          <a:solidFill>
            <a:srgbClr val="F4F8FB"/>
          </a:solidFill>
          <a:ln cap="flat" cmpd="sng" w="12700">
            <a:solidFill>
              <a:srgbClr val="E8EE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9" name="Google Shape;479;p14"/>
          <p:cNvSpPr/>
          <p:nvPr/>
        </p:nvSpPr>
        <p:spPr>
          <a:xfrm>
            <a:off x="5239035" y="3035855"/>
            <a:ext cx="54900" cy="1481400"/>
          </a:xfrm>
          <a:prstGeom prst="rect">
            <a:avLst/>
          </a:prstGeom>
          <a:solidFill>
            <a:srgbClr val="1ABC9C"/>
          </a:solidFill>
          <a:ln cap="flat" cmpd="sng" w="12700">
            <a:solidFill>
              <a:srgbClr val="1ABC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0" name="Google Shape;480;p14"/>
          <p:cNvSpPr/>
          <p:nvPr/>
        </p:nvSpPr>
        <p:spPr>
          <a:xfrm>
            <a:off x="5386765" y="3035858"/>
            <a:ext cx="22860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BC9C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ABC9C"/>
                </a:solidFill>
                <a:latin typeface="Calibri"/>
                <a:ea typeface="Calibri"/>
                <a:cs typeface="Calibri"/>
                <a:sym typeface="Calibri"/>
              </a:rPr>
              <a:t>✅  Doğrulama: Çıkış &gt; Giriş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14"/>
          <p:cNvSpPr/>
          <p:nvPr/>
        </p:nvSpPr>
        <p:spPr>
          <a:xfrm>
            <a:off x="5421965" y="3355818"/>
            <a:ext cx="2331600" cy="896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8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C2833"/>
                </a:solidFill>
                <a:latin typeface="Calibri"/>
                <a:ea typeface="Calibri"/>
                <a:cs typeface="Calibri"/>
                <a:sym typeface="Calibri"/>
              </a:rPr>
              <a:t>Çıkış tarihi giriş tarihinden önce veya aynı gün girilemez. isAfter() kontrolü zorunludur.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2137"/>
        </a:solidFill>
      </p:bgPr>
    </p:bg>
    <p:spTree>
      <p:nvGrpSpPr>
        <p:cNvPr id="486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15"/>
          <p:cNvSpPr/>
          <p:nvPr/>
        </p:nvSpPr>
        <p:spPr>
          <a:xfrm>
            <a:off x="5943600" y="-1371600"/>
            <a:ext cx="5486400" cy="5486400"/>
          </a:xfrm>
          <a:prstGeom prst="ellipse">
            <a:avLst/>
          </a:prstGeom>
          <a:solidFill>
            <a:srgbClr val="163764">
              <a:alpha val="60000"/>
            </a:srgbClr>
          </a:solidFill>
          <a:ln cap="flat" cmpd="sng" w="12700">
            <a:solidFill>
              <a:srgbClr val="163764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8" name="Google Shape;488;p15"/>
          <p:cNvSpPr/>
          <p:nvPr/>
        </p:nvSpPr>
        <p:spPr>
          <a:xfrm>
            <a:off x="-1828800" y="2286000"/>
            <a:ext cx="4572000" cy="4572000"/>
          </a:xfrm>
          <a:prstGeom prst="ellipse">
            <a:avLst/>
          </a:prstGeom>
          <a:solidFill>
            <a:srgbClr val="2471A3">
              <a:alpha val="40000"/>
            </a:srgbClr>
          </a:solidFill>
          <a:ln cap="flat" cmpd="sng" w="12700">
            <a:solidFill>
              <a:srgbClr val="2471A3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15"/>
          <p:cNvSpPr/>
          <p:nvPr/>
        </p:nvSpPr>
        <p:spPr>
          <a:xfrm>
            <a:off x="914400" y="1280160"/>
            <a:ext cx="7315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Bizi Dinlediğiniz İçin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15"/>
          <p:cNvSpPr/>
          <p:nvPr/>
        </p:nvSpPr>
        <p:spPr>
          <a:xfrm>
            <a:off x="914400" y="1965960"/>
            <a:ext cx="7315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BC9C"/>
              </a:buClr>
              <a:buSzPts val="4200"/>
              <a:buFont typeface="Calibri"/>
              <a:buNone/>
            </a:pPr>
            <a:r>
              <a:rPr b="1" i="0" lang="en-US" sz="4200" u="none" cap="none" strike="noStrike">
                <a:solidFill>
                  <a:srgbClr val="1ABC9C"/>
                </a:solidFill>
                <a:latin typeface="Calibri"/>
                <a:ea typeface="Calibri"/>
                <a:cs typeface="Calibri"/>
                <a:sym typeface="Calibri"/>
              </a:rPr>
              <a:t>Teşekkür Ederiz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15"/>
          <p:cNvSpPr/>
          <p:nvPr/>
        </p:nvSpPr>
        <p:spPr>
          <a:xfrm>
            <a:off x="1371600" y="2834640"/>
            <a:ext cx="6400800" cy="1371600"/>
          </a:xfrm>
          <a:prstGeom prst="roundRect">
            <a:avLst>
              <a:gd fmla="val 8000" name="adj"/>
            </a:avLst>
          </a:prstGeom>
          <a:solidFill>
            <a:srgbClr val="163764">
              <a:alpha val="80000"/>
            </a:srgbClr>
          </a:solidFill>
          <a:ln cap="flat" cmpd="sng" w="12700">
            <a:solidFill>
              <a:srgbClr val="1ABC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2" name="Google Shape;492;p15"/>
          <p:cNvSpPr/>
          <p:nvPr/>
        </p:nvSpPr>
        <p:spPr>
          <a:xfrm>
            <a:off x="1828800" y="2926080"/>
            <a:ext cx="54864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ED6F1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AED6F1"/>
                </a:solidFill>
                <a:latin typeface="Calibri"/>
                <a:ea typeface="Calibri"/>
                <a:cs typeface="Calibri"/>
                <a:sym typeface="Calibri"/>
              </a:rPr>
              <a:t>Dil: 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Java 17+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15"/>
          <p:cNvSpPr/>
          <p:nvPr/>
        </p:nvSpPr>
        <p:spPr>
          <a:xfrm>
            <a:off x="1828800" y="3310128"/>
            <a:ext cx="54864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ED6F1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AED6F1"/>
                </a:solidFill>
                <a:latin typeface="Calibri"/>
                <a:ea typeface="Calibri"/>
                <a:cs typeface="Calibri"/>
                <a:sym typeface="Calibri"/>
              </a:rPr>
              <a:t>GUI: 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Java Swing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15"/>
          <p:cNvSpPr/>
          <p:nvPr/>
        </p:nvSpPr>
        <p:spPr>
          <a:xfrm>
            <a:off x="1828800" y="3694176"/>
            <a:ext cx="54864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ED6F1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AED6F1"/>
                </a:solidFill>
                <a:latin typeface="Calibri"/>
                <a:ea typeface="Calibri"/>
                <a:cs typeface="Calibri"/>
                <a:sym typeface="Calibri"/>
              </a:rPr>
              <a:t>Veri Yapıları: 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BST · HashMap · LinkedList · Interval Check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15"/>
          <p:cNvSpPr/>
          <p:nvPr/>
        </p:nvSpPr>
        <p:spPr>
          <a:xfrm>
            <a:off x="1371600" y="4343400"/>
            <a:ext cx="6400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ED6F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AED6F1"/>
                </a:solidFill>
                <a:latin typeface="Calibri"/>
                <a:ea typeface="Calibri"/>
                <a:cs typeface="Calibri"/>
                <a:sym typeface="Calibri"/>
              </a:rPr>
              <a:t>Arnta Moumin   |   Soydan Küçük   |   Mert Ülker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2026-05-19T20:59:25Z</dcterms:created>
  <dc:creator>PptxGenJS</dc:creator>
</cp:coreProperties>
</file>